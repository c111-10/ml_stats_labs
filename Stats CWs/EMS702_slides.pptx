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6" r:id="rId4"/>
    <p:sldId id="258" r:id="rId5"/>
    <p:sldId id="259" r:id="rId6"/>
    <p:sldId id="261" r:id="rId7"/>
    <p:sldId id="262" r:id="rId8"/>
    <p:sldId id="265" r:id="rId9"/>
    <p:sldId id="263" r:id="rId10"/>
    <p:sldId id="264"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1" d="100"/>
          <a:sy n="51" d="100"/>
        </p:scale>
        <p:origin x="24" y="39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4908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39004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150344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657146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875736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hyperlink" Target="https://gamma.app" TargetMode="External"/><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w="13811">
            <a:solidFill>
              <a:srgbClr val="FFFFFF">
                <a:alpha val="64000"/>
              </a:srgbClr>
            </a:solidFill>
            <a:prstDash val="solid"/>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5486400" y="166028"/>
            <a:ext cx="8967493" cy="3829110"/>
          </a:xfrm>
          <a:prstGeom prst="rect">
            <a:avLst/>
          </a:prstGeom>
          <a:noFill/>
          <a:ln/>
        </p:spPr>
        <p:txBody>
          <a:bodyPr wrap="square" rtlCol="0" anchor="t"/>
          <a:lstStyle/>
          <a:p>
            <a:pPr marL="0" indent="0" algn="just">
              <a:lnSpc>
                <a:spcPts val="6561"/>
              </a:lnSpc>
              <a:buNone/>
            </a:pPr>
            <a:r>
              <a:rPr lang="en-US" sz="6000" b="1" dirty="0">
                <a:solidFill>
                  <a:srgbClr val="312F2B"/>
                </a:solidFill>
                <a:latin typeface="Arial" panose="020B0604020202020204" pitchFamily="34" charset="0"/>
                <a:ea typeface="Gelasio" pitchFamily="34" charset="-122"/>
                <a:cs typeface="Arial" panose="020B0604020202020204" pitchFamily="34" charset="0"/>
              </a:rPr>
              <a:t>The PCA program of the project of predicting the taxiing time of aircraft at Manchester Airport</a:t>
            </a:r>
            <a:endParaRPr lang="en-US" sz="6000" b="1" dirty="0">
              <a:latin typeface="Arial" panose="020B0604020202020204" pitchFamily="34" charset="0"/>
              <a:cs typeface="Arial" panose="020B0604020202020204" pitchFamily="34" charset="0"/>
            </a:endParaRPr>
          </a:p>
        </p:txBody>
      </p:sp>
      <p:sp>
        <p:nvSpPr>
          <p:cNvPr id="6" name="Text 2"/>
          <p:cNvSpPr/>
          <p:nvPr/>
        </p:nvSpPr>
        <p:spPr>
          <a:xfrm>
            <a:off x="6319599" y="4678680"/>
            <a:ext cx="7477601" cy="1066205"/>
          </a:xfrm>
          <a:prstGeom prst="rect">
            <a:avLst/>
          </a:prstGeom>
          <a:noFill/>
          <a:ln/>
        </p:spPr>
        <p:txBody>
          <a:bodyPr wrap="square" rtlCol="0" anchor="t"/>
          <a:lstStyle/>
          <a:p>
            <a:pPr marL="0" indent="0">
              <a:lnSpc>
                <a:spcPts val="2799"/>
              </a:lnSpc>
              <a:buNone/>
            </a:pPr>
            <a:endParaRPr lang="en-US" sz="1750" dirty="0"/>
          </a:p>
        </p:txBody>
      </p:sp>
      <p:sp>
        <p:nvSpPr>
          <p:cNvPr id="8" name="Text 4"/>
          <p:cNvSpPr/>
          <p:nvPr/>
        </p:nvSpPr>
        <p:spPr>
          <a:xfrm>
            <a:off x="6405801" y="6006346"/>
            <a:ext cx="182880" cy="365760"/>
          </a:xfrm>
          <a:prstGeom prst="rect">
            <a:avLst/>
          </a:prstGeom>
          <a:noFill/>
          <a:ln/>
        </p:spPr>
        <p:txBody>
          <a:bodyPr wrap="none" rtlCol="0" anchor="t"/>
          <a:lstStyle/>
          <a:p>
            <a:pPr marL="0" indent="0" algn="ctr">
              <a:lnSpc>
                <a:spcPts val="2880"/>
              </a:lnSpc>
              <a:buNone/>
            </a:pPr>
            <a:endParaRPr lang="en-US" sz="1152" dirty="0"/>
          </a:p>
        </p:txBody>
      </p:sp>
      <p:sp>
        <p:nvSpPr>
          <p:cNvPr id="9" name="Text 5"/>
          <p:cNvSpPr/>
          <p:nvPr/>
        </p:nvSpPr>
        <p:spPr>
          <a:xfrm>
            <a:off x="12328664" y="6909197"/>
            <a:ext cx="1812224" cy="501868"/>
          </a:xfrm>
          <a:prstGeom prst="rect">
            <a:avLst/>
          </a:prstGeom>
          <a:noFill/>
          <a:ln/>
        </p:spPr>
        <p:txBody>
          <a:bodyPr wrap="none" rtlCol="0" anchor="t"/>
          <a:lstStyle/>
          <a:p>
            <a:pPr marL="0" indent="0" algn="l">
              <a:lnSpc>
                <a:spcPts val="3062"/>
              </a:lnSpc>
              <a:buNone/>
            </a:pPr>
            <a:r>
              <a:rPr lang="en-US" sz="2187" b="1" dirty="0">
                <a:solidFill>
                  <a:srgbClr val="272525"/>
                </a:solidFill>
                <a:latin typeface="Arial" panose="020B0604020202020204" pitchFamily="34" charset="0"/>
                <a:ea typeface="Lato" pitchFamily="34" charset="-122"/>
                <a:cs typeface="Arial" panose="020B0604020202020204" pitchFamily="34" charset="0"/>
              </a:rPr>
              <a:t>by Group B</a:t>
            </a:r>
            <a:endParaRPr lang="en-US" sz="2187"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w="13811">
            <a:solidFill>
              <a:srgbClr val="FFFFFF">
                <a:alpha val="64000"/>
              </a:srgbClr>
            </a:solidFill>
            <a:prstDash val="solid"/>
          </a:ln>
        </p:spPr>
      </p:sp>
      <p:sp>
        <p:nvSpPr>
          <p:cNvPr id="4" name="Text 1"/>
          <p:cNvSpPr/>
          <p:nvPr/>
        </p:nvSpPr>
        <p:spPr>
          <a:xfrm>
            <a:off x="552033" y="211573"/>
            <a:ext cx="7978140" cy="694373"/>
          </a:xfrm>
          <a:prstGeom prst="rect">
            <a:avLst/>
          </a:prstGeom>
          <a:noFill/>
          <a:ln/>
        </p:spPr>
        <p:txBody>
          <a:bodyPr wrap="none" rtlCol="0" anchor="t"/>
          <a:lstStyle/>
          <a:p>
            <a:pPr marL="0" indent="0">
              <a:lnSpc>
                <a:spcPts val="5468"/>
              </a:lnSpc>
              <a:buNone/>
            </a:pPr>
            <a:r>
              <a:rPr lang="en-US" sz="4400" b="1" dirty="0">
                <a:solidFill>
                  <a:srgbClr val="312F2B"/>
                </a:solidFill>
                <a:ea typeface="Gelasio" pitchFamily="34" charset="-122"/>
                <a:cs typeface="Gelasio" pitchFamily="34" charset="-120"/>
              </a:rPr>
              <a:t>Part </a:t>
            </a:r>
            <a:r>
              <a:rPr lang="en-US" sz="4400" b="1" dirty="0" err="1">
                <a:solidFill>
                  <a:srgbClr val="312F2B"/>
                </a:solidFill>
                <a:ea typeface="Gelasio" pitchFamily="34" charset="-122"/>
                <a:cs typeface="Gelasio" pitchFamily="34" charset="-120"/>
              </a:rPr>
              <a:t>one：Data</a:t>
            </a:r>
            <a:r>
              <a:rPr lang="en-US" sz="4400" b="1" dirty="0">
                <a:solidFill>
                  <a:srgbClr val="312F2B"/>
                </a:solidFill>
                <a:ea typeface="Gelasio" pitchFamily="34" charset="-122"/>
                <a:cs typeface="Gelasio" pitchFamily="34" charset="-120"/>
              </a:rPr>
              <a:t> Set Description</a:t>
            </a:r>
            <a:endParaRPr lang="en-US" sz="4400" b="1" dirty="0"/>
          </a:p>
        </p:txBody>
      </p:sp>
      <p:sp>
        <p:nvSpPr>
          <p:cNvPr id="5" name="Text 2"/>
          <p:cNvSpPr/>
          <p:nvPr/>
        </p:nvSpPr>
        <p:spPr>
          <a:xfrm>
            <a:off x="475251" y="1248160"/>
            <a:ext cx="2221944" cy="347186"/>
          </a:xfrm>
          <a:prstGeom prst="rect">
            <a:avLst/>
          </a:prstGeom>
          <a:noFill/>
          <a:ln/>
        </p:spPr>
        <p:txBody>
          <a:bodyPr wrap="none" rtlCol="0" anchor="t"/>
          <a:lstStyle/>
          <a:p>
            <a:pPr marL="0" indent="0">
              <a:lnSpc>
                <a:spcPts val="2734"/>
              </a:lnSpc>
              <a:buNone/>
            </a:pPr>
            <a:r>
              <a:rPr lang="en-US" altLang="zh-CN" sz="2400" b="1" dirty="0">
                <a:solidFill>
                  <a:srgbClr val="312F2B"/>
                </a:solidFill>
                <a:ea typeface="Gelasio" pitchFamily="34" charset="-122"/>
                <a:cs typeface="Gelasio" pitchFamily="34" charset="-120"/>
              </a:rPr>
              <a:t>Ⅰ</a:t>
            </a:r>
            <a:r>
              <a:rPr lang="en-US" sz="2400" b="1" dirty="0">
                <a:solidFill>
                  <a:srgbClr val="312F2B"/>
                </a:solidFill>
                <a:ea typeface="Gelasio" pitchFamily="34" charset="-122"/>
                <a:cs typeface="Gelasio" pitchFamily="34" charset="-120"/>
              </a:rPr>
              <a:t>. Data collection &amp; processing</a:t>
            </a:r>
            <a:endParaRPr lang="en-US" sz="2400" b="1" dirty="0"/>
          </a:p>
        </p:txBody>
      </p:sp>
      <p:sp>
        <p:nvSpPr>
          <p:cNvPr id="6" name="Text 3"/>
          <p:cNvSpPr/>
          <p:nvPr/>
        </p:nvSpPr>
        <p:spPr>
          <a:xfrm>
            <a:off x="552033" y="2400231"/>
            <a:ext cx="5006221" cy="1066205"/>
          </a:xfrm>
          <a:prstGeom prst="rect">
            <a:avLst/>
          </a:prstGeom>
          <a:noFill/>
          <a:ln/>
        </p:spPr>
        <p:txBody>
          <a:bodyPr wrap="square" rtlCol="0" anchor="t"/>
          <a:lstStyle/>
          <a:p>
            <a:pPr marL="0" indent="0">
              <a:lnSpc>
                <a:spcPts val="2799"/>
              </a:lnSpc>
              <a:buNone/>
            </a:pPr>
            <a:endParaRPr lang="en-US" sz="1750" dirty="0"/>
          </a:p>
        </p:txBody>
      </p:sp>
      <p:sp>
        <p:nvSpPr>
          <p:cNvPr id="7" name="Text 4"/>
          <p:cNvSpPr/>
          <p:nvPr/>
        </p:nvSpPr>
        <p:spPr>
          <a:xfrm>
            <a:off x="7086600" y="1242707"/>
            <a:ext cx="2221944" cy="347186"/>
          </a:xfrm>
          <a:prstGeom prst="rect">
            <a:avLst/>
          </a:prstGeom>
          <a:noFill/>
          <a:ln/>
        </p:spPr>
        <p:txBody>
          <a:bodyPr wrap="none" rtlCol="0" anchor="t"/>
          <a:lstStyle/>
          <a:p>
            <a:pPr marL="0" indent="0">
              <a:lnSpc>
                <a:spcPts val="2734"/>
              </a:lnSpc>
              <a:buNone/>
            </a:pPr>
            <a:r>
              <a:rPr lang="en-US" altLang="zh-CN" sz="2400" b="1" dirty="0" err="1">
                <a:solidFill>
                  <a:srgbClr val="312F2B"/>
                </a:solidFill>
                <a:ea typeface="Gelasio" pitchFamily="34" charset="-122"/>
                <a:cs typeface="Gelasio" pitchFamily="34" charset="-120"/>
              </a:rPr>
              <a:t>Ⅱ</a:t>
            </a:r>
            <a:r>
              <a:rPr lang="en-US" sz="2400" b="1" dirty="0" err="1">
                <a:solidFill>
                  <a:srgbClr val="312F2B"/>
                </a:solidFill>
                <a:ea typeface="Gelasio" pitchFamily="34" charset="-122"/>
                <a:cs typeface="Gelasio" pitchFamily="34" charset="-120"/>
              </a:rPr>
              <a:t>.Data</a:t>
            </a:r>
            <a:r>
              <a:rPr lang="en-US" sz="2400" b="1" dirty="0">
                <a:solidFill>
                  <a:srgbClr val="312F2B"/>
                </a:solidFill>
                <a:ea typeface="Gelasio" pitchFamily="34" charset="-122"/>
                <a:cs typeface="Gelasio" pitchFamily="34" charset="-120"/>
              </a:rPr>
              <a:t> selection</a:t>
            </a:r>
            <a:endParaRPr lang="en-US" sz="2400" b="1" dirty="0"/>
          </a:p>
        </p:txBody>
      </p:sp>
      <p:sp>
        <p:nvSpPr>
          <p:cNvPr id="8" name="Text 5"/>
          <p:cNvSpPr/>
          <p:nvPr/>
        </p:nvSpPr>
        <p:spPr>
          <a:xfrm>
            <a:off x="7086600" y="1736613"/>
            <a:ext cx="7543800" cy="3956325"/>
          </a:xfrm>
          <a:prstGeom prst="rect">
            <a:avLst/>
          </a:prstGeom>
          <a:noFill/>
          <a:ln/>
        </p:spPr>
        <p:txBody>
          <a:bodyPr wrap="square" rtlCol="0" anchor="t"/>
          <a:lstStyle/>
          <a:p>
            <a:pPr marL="0" indent="0">
              <a:lnSpc>
                <a:spcPts val="2799"/>
              </a:lnSpc>
              <a:buNone/>
            </a:pPr>
            <a:r>
              <a:rPr lang="en-US" altLang="zh-CN" sz="2000" dirty="0">
                <a:solidFill>
                  <a:srgbClr val="272525"/>
                </a:solidFill>
                <a:ea typeface="Lato" pitchFamily="34" charset="-122"/>
                <a:cs typeface="Lato" pitchFamily="34" charset="-120"/>
              </a:rPr>
              <a:t>The data selection process is the process of selecting certain features from a feature set and inputting them into a PCA program.</a:t>
            </a:r>
          </a:p>
          <a:p>
            <a:pPr marL="0" indent="0">
              <a:lnSpc>
                <a:spcPts val="2799"/>
              </a:lnSpc>
              <a:buNone/>
            </a:pPr>
            <a:endParaRPr lang="en-US" altLang="zh-CN" sz="2000" dirty="0">
              <a:solidFill>
                <a:srgbClr val="272525"/>
              </a:solidFill>
              <a:ea typeface="Lato" pitchFamily="34" charset="-122"/>
              <a:cs typeface="Lato" pitchFamily="34" charset="-120"/>
            </a:endParaRPr>
          </a:p>
          <a:p>
            <a:pPr>
              <a:lnSpc>
                <a:spcPts val="2799"/>
              </a:lnSpc>
            </a:pPr>
            <a:r>
              <a:rPr lang="en-US" altLang="zh-CN" sz="2000" b="1" dirty="0">
                <a:solidFill>
                  <a:srgbClr val="272525"/>
                </a:solidFill>
                <a:ea typeface="Lato" pitchFamily="34" charset="-122"/>
                <a:cs typeface="Lato" pitchFamily="34" charset="-120"/>
              </a:rPr>
              <a:t>Principle: </a:t>
            </a:r>
            <a:r>
              <a:rPr lang="en-US" altLang="zh-CN" sz="2000" dirty="0">
                <a:solidFill>
                  <a:srgbClr val="272525"/>
                </a:solidFill>
                <a:ea typeface="Lato" pitchFamily="34" charset="-122"/>
                <a:cs typeface="Lato" pitchFamily="34" charset="-120"/>
              </a:rPr>
              <a:t>Retain the features most relevant to aircraft taxiing time, and the correlation between these features must be low. </a:t>
            </a:r>
            <a:r>
              <a:rPr lang="en-US" altLang="zh-CN" sz="2000" dirty="0" err="1">
                <a:solidFill>
                  <a:srgbClr val="272525"/>
                </a:solidFill>
                <a:ea typeface="Lato" pitchFamily="34" charset="-122"/>
                <a:cs typeface="Lato" pitchFamily="34" charset="-120"/>
              </a:rPr>
              <a:t>Warining</a:t>
            </a:r>
            <a:r>
              <a:rPr lang="en-US" altLang="zh-CN" sz="2000" dirty="0">
                <a:solidFill>
                  <a:srgbClr val="272525"/>
                </a:solidFill>
                <a:ea typeface="Lato" pitchFamily="34" charset="-122"/>
                <a:cs typeface="Lato" pitchFamily="34" charset="-120"/>
              </a:rPr>
              <a:t>: taxi_ time is the target variable and should not be selected as a feature.</a:t>
            </a:r>
          </a:p>
          <a:p>
            <a:pPr marL="0" indent="0">
              <a:lnSpc>
                <a:spcPts val="2799"/>
              </a:lnSpc>
              <a:buNone/>
            </a:pPr>
            <a:endParaRPr lang="en-US" altLang="zh-CN" sz="2000" dirty="0">
              <a:solidFill>
                <a:srgbClr val="272525"/>
              </a:solidFill>
              <a:ea typeface="Lato" pitchFamily="34" charset="-122"/>
              <a:cs typeface="Lato" pitchFamily="34" charset="-120"/>
            </a:endParaRPr>
          </a:p>
          <a:p>
            <a:pPr marL="0" indent="0">
              <a:lnSpc>
                <a:spcPts val="2799"/>
              </a:lnSpc>
              <a:buNone/>
            </a:pPr>
            <a:r>
              <a:rPr lang="en-US" altLang="zh-CN" sz="2000" b="1" dirty="0">
                <a:solidFill>
                  <a:srgbClr val="272525"/>
                </a:solidFill>
                <a:ea typeface="Lato" pitchFamily="34" charset="-122"/>
                <a:cs typeface="Lato" pitchFamily="34" charset="-120"/>
              </a:rPr>
              <a:t>Process: </a:t>
            </a:r>
            <a:r>
              <a:rPr lang="en-US" altLang="zh-CN" sz="2000" dirty="0">
                <a:solidFill>
                  <a:srgbClr val="272525"/>
                </a:solidFill>
                <a:ea typeface="Lato" pitchFamily="34" charset="-122"/>
                <a:cs typeface="Lato" pitchFamily="34" charset="-120"/>
              </a:rPr>
              <a:t>Exclude obvious unrelated features, exclude features with correlation coefficients greater than 0.9 in correlation analysis, and remove features with small contributions in the principal components. Finally, the following seven features were retained</a:t>
            </a:r>
            <a:endParaRPr lang="en-US" sz="2000" dirty="0"/>
          </a:p>
          <a:p>
            <a:pPr marL="0" indent="0">
              <a:lnSpc>
                <a:spcPts val="2799"/>
              </a:lnSpc>
              <a:buNone/>
            </a:pPr>
            <a:endParaRPr lang="en-US" sz="1750" dirty="0"/>
          </a:p>
          <a:p>
            <a:pPr marL="0" indent="0">
              <a:lnSpc>
                <a:spcPts val="2799"/>
              </a:lnSpc>
              <a:buNone/>
            </a:pPr>
            <a:endParaRPr lang="en-US" sz="1750" dirty="0"/>
          </a:p>
          <a:p>
            <a:pPr marL="0" indent="0">
              <a:lnSpc>
                <a:spcPts val="2799"/>
              </a:lnSpc>
              <a:buNone/>
            </a:pPr>
            <a:endParaRPr lang="en-US" sz="1750" dirty="0"/>
          </a:p>
        </p:txBody>
      </p:sp>
      <p:sp>
        <p:nvSpPr>
          <p:cNvPr id="20" name="Text 5">
            <a:extLst>
              <a:ext uri="{FF2B5EF4-FFF2-40B4-BE49-F238E27FC236}">
                <a16:creationId xmlns:a16="http://schemas.microsoft.com/office/drawing/2014/main" id="{A5F31AAA-7A7A-96F2-D5B8-4FA79BF129D0}"/>
              </a:ext>
            </a:extLst>
          </p:cNvPr>
          <p:cNvSpPr/>
          <p:nvPr/>
        </p:nvSpPr>
        <p:spPr>
          <a:xfrm>
            <a:off x="475251" y="2530508"/>
            <a:ext cx="5645330" cy="5522111"/>
          </a:xfrm>
          <a:prstGeom prst="rect">
            <a:avLst/>
          </a:prstGeom>
          <a:noFill/>
          <a:ln/>
        </p:spPr>
        <p:txBody>
          <a:bodyPr wrap="square" rtlCol="0" anchor="t"/>
          <a:lstStyle/>
          <a:p>
            <a:pPr marL="0" indent="0">
              <a:lnSpc>
                <a:spcPts val="2799"/>
              </a:lnSpc>
              <a:buNone/>
            </a:pPr>
            <a:endParaRPr lang="en-US" sz="1750" dirty="0"/>
          </a:p>
        </p:txBody>
      </p:sp>
      <p:sp>
        <p:nvSpPr>
          <p:cNvPr id="21" name="Text 5">
            <a:extLst>
              <a:ext uri="{FF2B5EF4-FFF2-40B4-BE49-F238E27FC236}">
                <a16:creationId xmlns:a16="http://schemas.microsoft.com/office/drawing/2014/main" id="{D42AF359-8565-2CA9-6946-B2E025BC177B}"/>
              </a:ext>
            </a:extLst>
          </p:cNvPr>
          <p:cNvSpPr/>
          <p:nvPr/>
        </p:nvSpPr>
        <p:spPr>
          <a:xfrm>
            <a:off x="552033" y="1810357"/>
            <a:ext cx="6682051" cy="2569976"/>
          </a:xfrm>
          <a:prstGeom prst="rect">
            <a:avLst/>
          </a:prstGeom>
          <a:noFill/>
          <a:ln/>
        </p:spPr>
        <p:txBody>
          <a:bodyPr wrap="square" rtlCol="0" anchor="t"/>
          <a:lstStyle/>
          <a:p>
            <a:pPr marL="342900" indent="-342900">
              <a:lnSpc>
                <a:spcPts val="2799"/>
              </a:lnSpc>
              <a:buAutoNum type="arabicPeriod"/>
            </a:pPr>
            <a:r>
              <a:rPr lang="en-US" sz="2000" dirty="0">
                <a:solidFill>
                  <a:srgbClr val="272525"/>
                </a:solidFill>
                <a:ea typeface="Lato" panose="020F0502020204030203" pitchFamily="34" charset="0"/>
                <a:cs typeface="Lato" panose="020F0502020204030203" pitchFamily="34" charset="0"/>
              </a:rPr>
              <a:t>Use the program provided by </a:t>
            </a:r>
            <a:r>
              <a:rPr lang="en-US" sz="2000" dirty="0" err="1">
                <a:solidFill>
                  <a:srgbClr val="272525"/>
                </a:solidFill>
                <a:ea typeface="Lato" panose="020F0502020204030203" pitchFamily="34" charset="0"/>
                <a:cs typeface="Lato" panose="020F0502020204030203" pitchFamily="34" charset="0"/>
              </a:rPr>
              <a:t>QMplus</a:t>
            </a:r>
            <a:r>
              <a:rPr lang="en-US" sz="2000" dirty="0">
                <a:solidFill>
                  <a:srgbClr val="272525"/>
                </a:solidFill>
                <a:ea typeface="Lato" panose="020F0502020204030203" pitchFamily="34" charset="0"/>
                <a:cs typeface="Lato" panose="020F0502020204030203" pitchFamily="34" charset="0"/>
              </a:rPr>
              <a:t>, man_ Map.txt and the cleaned dataset from March 2021 are placed in the same directory, as shown in the following figure.</a:t>
            </a:r>
          </a:p>
          <a:p>
            <a:pPr marL="342900" indent="-342900">
              <a:lnSpc>
                <a:spcPts val="2799"/>
              </a:lnSpc>
              <a:buAutoNum type="arabicPeriod"/>
            </a:pPr>
            <a:endParaRPr lang="en-US" sz="2000" dirty="0">
              <a:solidFill>
                <a:srgbClr val="272525"/>
              </a:solidFill>
              <a:ea typeface="Lato" panose="020F0502020204030203" pitchFamily="34" charset="0"/>
              <a:cs typeface="Lato" panose="020F0502020204030203" pitchFamily="34" charset="0"/>
            </a:endParaRPr>
          </a:p>
          <a:p>
            <a:pPr marL="342900" indent="-342900">
              <a:lnSpc>
                <a:spcPts val="2799"/>
              </a:lnSpc>
              <a:buAutoNum type="arabicPeriod"/>
            </a:pPr>
            <a:r>
              <a:rPr lang="en-US" sz="2000" dirty="0">
                <a:solidFill>
                  <a:srgbClr val="272525"/>
                </a:solidFill>
                <a:ea typeface="Lato" panose="020F0502020204030203" pitchFamily="34" charset="0"/>
                <a:cs typeface="Lato" panose="020F0502020204030203" pitchFamily="34" charset="0"/>
              </a:rPr>
              <a:t>Run snap.exe to obtain the snaped.csv dataset</a:t>
            </a:r>
          </a:p>
          <a:p>
            <a:pPr marL="342900" indent="-342900">
              <a:lnSpc>
                <a:spcPts val="2799"/>
              </a:lnSpc>
              <a:buAutoNum type="arabicPeriod"/>
            </a:pPr>
            <a:endParaRPr lang="en-US" sz="2000" dirty="0">
              <a:solidFill>
                <a:srgbClr val="272525"/>
              </a:solidFill>
              <a:ea typeface="Lato" panose="020F0502020204030203" pitchFamily="34" charset="0"/>
              <a:cs typeface="Lato" panose="020F0502020204030203" pitchFamily="34" charset="0"/>
            </a:endParaRPr>
          </a:p>
          <a:p>
            <a:pPr marL="342900" indent="-342900">
              <a:lnSpc>
                <a:spcPts val="2799"/>
              </a:lnSpc>
              <a:buAutoNum type="arabicPeriod"/>
            </a:pPr>
            <a:r>
              <a:rPr lang="en-US" sz="2000" dirty="0">
                <a:solidFill>
                  <a:srgbClr val="272525"/>
                </a:solidFill>
                <a:ea typeface="Lato" panose="020F0502020204030203" pitchFamily="34" charset="0"/>
                <a:cs typeface="Lato" panose="020F0502020204030203" pitchFamily="34" charset="0"/>
              </a:rPr>
              <a:t>Run feature_ Extract. exe obtains the feature set: features. csv</a:t>
            </a:r>
            <a:endParaRPr lang="en-US" sz="2000" dirty="0">
              <a:ea typeface="Lato" panose="020F0502020204030203" pitchFamily="34" charset="0"/>
              <a:cs typeface="Lato" panose="020F0502020204030203" pitchFamily="34" charset="0"/>
            </a:endParaRPr>
          </a:p>
        </p:txBody>
      </p:sp>
      <p:pic>
        <p:nvPicPr>
          <p:cNvPr id="23" name="图片 22">
            <a:extLst>
              <a:ext uri="{FF2B5EF4-FFF2-40B4-BE49-F238E27FC236}">
                <a16:creationId xmlns:a16="http://schemas.microsoft.com/office/drawing/2014/main" id="{4B89D70A-4FEC-9512-FA8A-03F920C6F087}"/>
              </a:ext>
            </a:extLst>
          </p:cNvPr>
          <p:cNvPicPr>
            <a:picLocks noChangeAspect="1"/>
          </p:cNvPicPr>
          <p:nvPr/>
        </p:nvPicPr>
        <p:blipFill>
          <a:blip r:embed="rId4"/>
          <a:stretch>
            <a:fillRect/>
          </a:stretch>
        </p:blipFill>
        <p:spPr>
          <a:xfrm>
            <a:off x="638692" y="4723832"/>
            <a:ext cx="5575692" cy="3414328"/>
          </a:xfrm>
          <a:prstGeom prst="rect">
            <a:avLst/>
          </a:prstGeom>
        </p:spPr>
      </p:pic>
      <p:pic>
        <p:nvPicPr>
          <p:cNvPr id="24" name="图片 23">
            <a:extLst>
              <a:ext uri="{FF2B5EF4-FFF2-40B4-BE49-F238E27FC236}">
                <a16:creationId xmlns:a16="http://schemas.microsoft.com/office/drawing/2014/main" id="{6EC89B6D-0256-7197-E4B3-624297C7AFF1}"/>
              </a:ext>
            </a:extLst>
          </p:cNvPr>
          <p:cNvPicPr>
            <a:picLocks noChangeAspect="1"/>
          </p:cNvPicPr>
          <p:nvPr/>
        </p:nvPicPr>
        <p:blipFill>
          <a:blip r:embed="rId5"/>
          <a:stretch>
            <a:fillRect/>
          </a:stretch>
        </p:blipFill>
        <p:spPr>
          <a:xfrm>
            <a:off x="8311216" y="6237673"/>
            <a:ext cx="5788242" cy="197688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E66C8AD5-B261-BD49-E2EE-46A4876A75E3}"/>
              </a:ext>
            </a:extLst>
          </p:cNvPr>
          <p:cNvSpPr/>
          <p:nvPr/>
        </p:nvSpPr>
        <p:spPr>
          <a:xfrm>
            <a:off x="704432" y="1248160"/>
            <a:ext cx="4192614" cy="411034"/>
          </a:xfrm>
          <a:prstGeom prst="rect">
            <a:avLst/>
          </a:prstGeom>
          <a:noFill/>
          <a:ln/>
        </p:spPr>
        <p:txBody>
          <a:bodyPr wrap="none" rtlCol="0" anchor="t"/>
          <a:lstStyle/>
          <a:p>
            <a:pPr marL="0" indent="0">
              <a:lnSpc>
                <a:spcPts val="2734"/>
              </a:lnSpc>
              <a:buNone/>
            </a:pPr>
            <a:r>
              <a:rPr lang="en-US" altLang="zh-CN" sz="2187" b="1" dirty="0" err="1">
                <a:solidFill>
                  <a:srgbClr val="312F2B"/>
                </a:solidFill>
                <a:ea typeface="Gelasio" pitchFamily="34" charset="-122"/>
                <a:cs typeface="Gelasio" pitchFamily="34" charset="-120"/>
              </a:rPr>
              <a:t>Ⅲ</a:t>
            </a:r>
            <a:r>
              <a:rPr lang="en-US" sz="2187" b="1" dirty="0" err="1">
                <a:solidFill>
                  <a:srgbClr val="312F2B"/>
                </a:solidFill>
                <a:ea typeface="Gelasio" pitchFamily="34" charset="-122"/>
                <a:cs typeface="Gelasio" pitchFamily="34" charset="-120"/>
              </a:rPr>
              <a:t>.</a:t>
            </a:r>
            <a:r>
              <a:rPr lang="en-US" altLang="zh-CN" sz="2800" b="1" dirty="0" err="1">
                <a:solidFill>
                  <a:srgbClr val="312F2B"/>
                </a:solidFill>
                <a:ea typeface="Gelasio" pitchFamily="34" charset="-122"/>
                <a:cs typeface="Gelasio" pitchFamily="34" charset="-120"/>
              </a:rPr>
              <a:t>How</a:t>
            </a:r>
            <a:r>
              <a:rPr lang="en-US" altLang="zh-CN" sz="2800" b="1" dirty="0">
                <a:solidFill>
                  <a:srgbClr val="312F2B"/>
                </a:solidFill>
                <a:ea typeface="Gelasio" pitchFamily="34" charset="-122"/>
                <a:cs typeface="Gelasio" pitchFamily="34" charset="-120"/>
              </a:rPr>
              <a:t> to select the features</a:t>
            </a:r>
            <a:endParaRPr lang="en-US" sz="2800" b="1" dirty="0"/>
          </a:p>
        </p:txBody>
      </p:sp>
      <p:sp>
        <p:nvSpPr>
          <p:cNvPr id="3" name="Text 1">
            <a:extLst>
              <a:ext uri="{FF2B5EF4-FFF2-40B4-BE49-F238E27FC236}">
                <a16:creationId xmlns:a16="http://schemas.microsoft.com/office/drawing/2014/main" id="{2FF49029-D692-CFF7-EA0A-1644DCE7B24D}"/>
              </a:ext>
            </a:extLst>
          </p:cNvPr>
          <p:cNvSpPr/>
          <p:nvPr/>
        </p:nvSpPr>
        <p:spPr>
          <a:xfrm>
            <a:off x="552033" y="211573"/>
            <a:ext cx="7978140" cy="694373"/>
          </a:xfrm>
          <a:prstGeom prst="rect">
            <a:avLst/>
          </a:prstGeom>
          <a:noFill/>
          <a:ln/>
        </p:spPr>
        <p:txBody>
          <a:bodyPr wrap="none" rtlCol="0" anchor="t"/>
          <a:lstStyle/>
          <a:p>
            <a:pPr marL="0" indent="0">
              <a:lnSpc>
                <a:spcPts val="5468"/>
              </a:lnSpc>
              <a:buNone/>
            </a:pPr>
            <a:r>
              <a:rPr lang="en-US" sz="4400" b="1" dirty="0">
                <a:solidFill>
                  <a:srgbClr val="312F2B"/>
                </a:solidFill>
                <a:ea typeface="Gelasio" pitchFamily="34" charset="-122"/>
                <a:cs typeface="Gelasio" pitchFamily="34" charset="-120"/>
              </a:rPr>
              <a:t>Part </a:t>
            </a:r>
            <a:r>
              <a:rPr lang="en-US" sz="4400" b="1" dirty="0" err="1">
                <a:solidFill>
                  <a:srgbClr val="312F2B"/>
                </a:solidFill>
                <a:ea typeface="Gelasio" pitchFamily="34" charset="-122"/>
                <a:cs typeface="Gelasio" pitchFamily="34" charset="-120"/>
              </a:rPr>
              <a:t>one：Data</a:t>
            </a:r>
            <a:r>
              <a:rPr lang="en-US" sz="4400" b="1" dirty="0">
                <a:solidFill>
                  <a:srgbClr val="312F2B"/>
                </a:solidFill>
                <a:ea typeface="Gelasio" pitchFamily="34" charset="-122"/>
                <a:cs typeface="Gelasio" pitchFamily="34" charset="-120"/>
              </a:rPr>
              <a:t> Set Description</a:t>
            </a:r>
            <a:endParaRPr lang="en-US" sz="4400" b="1" dirty="0"/>
          </a:p>
        </p:txBody>
      </p:sp>
      <p:sp>
        <p:nvSpPr>
          <p:cNvPr id="4" name="Text 5">
            <a:extLst>
              <a:ext uri="{FF2B5EF4-FFF2-40B4-BE49-F238E27FC236}">
                <a16:creationId xmlns:a16="http://schemas.microsoft.com/office/drawing/2014/main" id="{6EBF0FE4-7639-89FC-DE2F-0BFB48050307}"/>
              </a:ext>
            </a:extLst>
          </p:cNvPr>
          <p:cNvSpPr/>
          <p:nvPr/>
        </p:nvSpPr>
        <p:spPr>
          <a:xfrm>
            <a:off x="704432" y="1962757"/>
            <a:ext cx="8590397" cy="5229896"/>
          </a:xfrm>
          <a:prstGeom prst="rect">
            <a:avLst/>
          </a:prstGeom>
          <a:noFill/>
          <a:ln/>
        </p:spPr>
        <p:txBody>
          <a:bodyPr wrap="square" rtlCol="0" anchor="t"/>
          <a:lstStyle/>
          <a:p>
            <a:pPr marL="0" indent="0">
              <a:lnSpc>
                <a:spcPts val="2799"/>
              </a:lnSpc>
              <a:buNone/>
            </a:pPr>
            <a:r>
              <a:rPr lang="en-US" sz="2400" b="1" dirty="0">
                <a:solidFill>
                  <a:srgbClr val="272525"/>
                </a:solidFill>
                <a:ea typeface="Lato" pitchFamily="34" charset="-122"/>
                <a:cs typeface="Lato" pitchFamily="34" charset="-120"/>
              </a:rPr>
              <a:t>Step 1.</a:t>
            </a:r>
            <a:r>
              <a:rPr lang="en-US" altLang="zh-CN" sz="2400" b="1" dirty="0">
                <a:solidFill>
                  <a:srgbClr val="272525"/>
                </a:solidFill>
                <a:ea typeface="Lato" pitchFamily="34" charset="-122"/>
                <a:cs typeface="Lato" pitchFamily="34" charset="-120"/>
              </a:rPr>
              <a:t> Manual screening</a:t>
            </a:r>
            <a:endParaRPr lang="en-US" altLang="zh-CN" sz="1750" dirty="0">
              <a:solidFill>
                <a:srgbClr val="272525"/>
              </a:solidFill>
              <a:latin typeface="Lato" pitchFamily="34" charset="0"/>
              <a:ea typeface="Lato" pitchFamily="34" charset="-122"/>
              <a:cs typeface="Lato" pitchFamily="34" charset="-120"/>
            </a:endParaRPr>
          </a:p>
          <a:p>
            <a:pPr marL="0" indent="0">
              <a:lnSpc>
                <a:spcPts val="2799"/>
              </a:lnSpc>
              <a:buNone/>
            </a:pPr>
            <a:r>
              <a:rPr lang="en-US" altLang="zh-CN" sz="2000" dirty="0">
                <a:solidFill>
                  <a:srgbClr val="272525"/>
                </a:solidFill>
                <a:ea typeface="Lato" panose="020F0502020204030203" pitchFamily="34" charset="0"/>
                <a:cs typeface="Lato" panose="020F0502020204030203" pitchFamily="34" charset="0"/>
              </a:rPr>
              <a:t>Utilize professional knowledge to exclude features that are least relevant to the problem and remove features that are meaningless or unavailable in actual scenarios</a:t>
            </a:r>
            <a:endParaRPr lang="en-US" sz="2000" dirty="0">
              <a:solidFill>
                <a:srgbClr val="272525"/>
              </a:solidFill>
              <a:ea typeface="Lato" pitchFamily="34" charset="-122"/>
              <a:cs typeface="Lato" pitchFamily="34" charset="-120"/>
            </a:endParaRPr>
          </a:p>
          <a:p>
            <a:pPr marL="0" indent="0">
              <a:lnSpc>
                <a:spcPts val="2799"/>
              </a:lnSpc>
              <a:buNone/>
            </a:pPr>
            <a:endParaRPr lang="en-US" sz="1750" dirty="0">
              <a:solidFill>
                <a:srgbClr val="272525"/>
              </a:solidFill>
              <a:latin typeface="Lato" pitchFamily="34" charset="0"/>
              <a:ea typeface="Lato" pitchFamily="34" charset="-122"/>
              <a:cs typeface="Lato" pitchFamily="34" charset="-120"/>
            </a:endParaRPr>
          </a:p>
          <a:p>
            <a:pPr marL="0" indent="0">
              <a:lnSpc>
                <a:spcPts val="2799"/>
              </a:lnSpc>
              <a:buNone/>
            </a:pPr>
            <a:endParaRPr lang="en-US" sz="1750" dirty="0">
              <a:solidFill>
                <a:srgbClr val="272525"/>
              </a:solidFill>
              <a:latin typeface="Lato" pitchFamily="34" charset="0"/>
              <a:ea typeface="Lato" pitchFamily="34" charset="-122"/>
              <a:cs typeface="Lato" pitchFamily="34" charset="-120"/>
            </a:endParaRPr>
          </a:p>
          <a:p>
            <a:pPr marL="0" indent="0">
              <a:lnSpc>
                <a:spcPts val="2799"/>
              </a:lnSpc>
              <a:buNone/>
            </a:pPr>
            <a:r>
              <a:rPr lang="en-US" sz="2400" b="1" dirty="0">
                <a:solidFill>
                  <a:srgbClr val="272525"/>
                </a:solidFill>
                <a:ea typeface="Lato" pitchFamily="34" charset="-122"/>
                <a:cs typeface="Lato" pitchFamily="34" charset="-120"/>
              </a:rPr>
              <a:t>Step 2.</a:t>
            </a:r>
            <a:r>
              <a:rPr lang="en-US" altLang="zh-CN" sz="2400" b="1" dirty="0">
                <a:solidFill>
                  <a:srgbClr val="272525"/>
                </a:solidFill>
                <a:ea typeface="Lato" pitchFamily="34" charset="-122"/>
                <a:cs typeface="Lato" pitchFamily="34" charset="-120"/>
              </a:rPr>
              <a:t> Correlation analysis</a:t>
            </a:r>
            <a:endParaRPr lang="en-US" sz="1750" dirty="0">
              <a:solidFill>
                <a:srgbClr val="272525"/>
              </a:solidFill>
              <a:latin typeface="Lato" pitchFamily="34" charset="0"/>
              <a:ea typeface="Lato" pitchFamily="34" charset="-122"/>
              <a:cs typeface="Lato" pitchFamily="34" charset="-120"/>
            </a:endParaRPr>
          </a:p>
          <a:p>
            <a:pPr marL="0" indent="0">
              <a:lnSpc>
                <a:spcPts val="2799"/>
              </a:lnSpc>
              <a:buNone/>
            </a:pPr>
            <a:r>
              <a:rPr lang="en-US" altLang="zh-CN" sz="2000" i="0" dirty="0">
                <a:effectLst/>
              </a:rPr>
              <a:t>Calculate the correlation coefficient and generate a correlation coefficient matrix, which is visualized through a thermal diagram. Determine the correlation threshold (0.9) and remove one of the highly correlated feature pairs.</a:t>
            </a:r>
          </a:p>
          <a:p>
            <a:pPr marL="0" indent="0">
              <a:lnSpc>
                <a:spcPts val="2799"/>
              </a:lnSpc>
              <a:buNone/>
            </a:pPr>
            <a:endParaRPr lang="en-US" sz="2000" dirty="0">
              <a:solidFill>
                <a:srgbClr val="272525"/>
              </a:solidFill>
              <a:ea typeface="Lato" pitchFamily="34" charset="-122"/>
              <a:cs typeface="Lato" pitchFamily="34" charset="-120"/>
            </a:endParaRPr>
          </a:p>
          <a:p>
            <a:pPr marL="0" indent="0">
              <a:lnSpc>
                <a:spcPts val="2799"/>
              </a:lnSpc>
              <a:buNone/>
            </a:pPr>
            <a:endParaRPr lang="en-US" sz="2000" dirty="0">
              <a:solidFill>
                <a:srgbClr val="272525"/>
              </a:solidFill>
              <a:ea typeface="Lato" pitchFamily="34" charset="-122"/>
              <a:cs typeface="Lato" pitchFamily="34" charset="-120"/>
            </a:endParaRPr>
          </a:p>
          <a:p>
            <a:pPr marL="0" indent="0">
              <a:lnSpc>
                <a:spcPts val="2799"/>
              </a:lnSpc>
              <a:buNone/>
            </a:pPr>
            <a:r>
              <a:rPr lang="en-US" sz="2400" b="1" dirty="0">
                <a:solidFill>
                  <a:srgbClr val="272525"/>
                </a:solidFill>
                <a:ea typeface="Lato" pitchFamily="34" charset="-122"/>
                <a:cs typeface="Lato" pitchFamily="34" charset="-120"/>
              </a:rPr>
              <a:t>Step 3.</a:t>
            </a:r>
            <a:r>
              <a:rPr lang="en-US" altLang="zh-CN" sz="2400" b="1" dirty="0">
                <a:solidFill>
                  <a:srgbClr val="272525"/>
                </a:solidFill>
                <a:ea typeface="Lato" pitchFamily="34" charset="-122"/>
                <a:cs typeface="Lato" pitchFamily="34" charset="-120"/>
              </a:rPr>
              <a:t> Principal component analysis fitting</a:t>
            </a:r>
          </a:p>
          <a:p>
            <a:pPr marL="0" indent="0">
              <a:lnSpc>
                <a:spcPts val="2799"/>
              </a:lnSpc>
              <a:buNone/>
            </a:pPr>
            <a:r>
              <a:rPr lang="en-US" altLang="zh-CN" sz="1750" dirty="0">
                <a:solidFill>
                  <a:srgbClr val="272525"/>
                </a:solidFill>
                <a:latin typeface="Lato" pitchFamily="34" charset="0"/>
                <a:ea typeface="Lato" pitchFamily="34" charset="-122"/>
                <a:cs typeface="Lato" pitchFamily="34" charset="-120"/>
              </a:rPr>
              <a:t>After executing PCA, check the load situation of the principal components and calculate the square load (contribution rate) of each feature. The larger this value, the more important the feature is. All 7 features mentioned above are ultimately preserved.</a:t>
            </a:r>
          </a:p>
        </p:txBody>
      </p:sp>
      <p:pic>
        <p:nvPicPr>
          <p:cNvPr id="5" name="图片 4">
            <a:extLst>
              <a:ext uri="{FF2B5EF4-FFF2-40B4-BE49-F238E27FC236}">
                <a16:creationId xmlns:a16="http://schemas.microsoft.com/office/drawing/2014/main" id="{7E1778D2-040E-C10F-775D-FDC00C20E426}"/>
              </a:ext>
            </a:extLst>
          </p:cNvPr>
          <p:cNvPicPr>
            <a:picLocks noChangeAspect="1"/>
          </p:cNvPicPr>
          <p:nvPr/>
        </p:nvPicPr>
        <p:blipFill>
          <a:blip r:embed="rId2"/>
          <a:stretch>
            <a:fillRect/>
          </a:stretch>
        </p:blipFill>
        <p:spPr>
          <a:xfrm>
            <a:off x="9040305" y="0"/>
            <a:ext cx="5430177" cy="4967926"/>
          </a:xfrm>
          <a:prstGeom prst="rect">
            <a:avLst/>
          </a:prstGeom>
        </p:spPr>
      </p:pic>
    </p:spTree>
    <p:extLst>
      <p:ext uri="{BB962C8B-B14F-4D97-AF65-F5344CB8AC3E}">
        <p14:creationId xmlns:p14="http://schemas.microsoft.com/office/powerpoint/2010/main" val="3769650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0" name="Text 1">
            <a:extLst>
              <a:ext uri="{FF2B5EF4-FFF2-40B4-BE49-F238E27FC236}">
                <a16:creationId xmlns:a16="http://schemas.microsoft.com/office/drawing/2014/main" id="{8B460DF3-2F5D-4EDE-7CEA-FAEE21A3FD58}"/>
              </a:ext>
            </a:extLst>
          </p:cNvPr>
          <p:cNvSpPr/>
          <p:nvPr/>
        </p:nvSpPr>
        <p:spPr>
          <a:xfrm>
            <a:off x="552033" y="211573"/>
            <a:ext cx="7978140" cy="694373"/>
          </a:xfrm>
          <a:prstGeom prst="rect">
            <a:avLst/>
          </a:prstGeom>
          <a:noFill/>
          <a:ln/>
        </p:spPr>
        <p:txBody>
          <a:bodyPr wrap="none" rtlCol="0" anchor="t"/>
          <a:lstStyle/>
          <a:p>
            <a:pPr marL="0" indent="0">
              <a:lnSpc>
                <a:spcPts val="5468"/>
              </a:lnSpc>
              <a:buNone/>
            </a:pPr>
            <a:r>
              <a:rPr lang="en-US" sz="4400" b="1" dirty="0">
                <a:solidFill>
                  <a:srgbClr val="312F2B"/>
                </a:solidFill>
                <a:ea typeface="Gelasio" pitchFamily="34" charset="-122"/>
                <a:cs typeface="Gelasio" pitchFamily="34" charset="-120"/>
              </a:rPr>
              <a:t>Part </a:t>
            </a:r>
            <a:r>
              <a:rPr lang="en-US" sz="4400" b="1" dirty="0" err="1">
                <a:solidFill>
                  <a:srgbClr val="312F2B"/>
                </a:solidFill>
                <a:ea typeface="Gelasio" pitchFamily="34" charset="-122"/>
                <a:cs typeface="Gelasio" pitchFamily="34" charset="-120"/>
              </a:rPr>
              <a:t>one：Data</a:t>
            </a:r>
            <a:r>
              <a:rPr lang="en-US" sz="4400" b="1" dirty="0">
                <a:solidFill>
                  <a:srgbClr val="312F2B"/>
                </a:solidFill>
                <a:ea typeface="Gelasio" pitchFamily="34" charset="-122"/>
                <a:cs typeface="Gelasio" pitchFamily="34" charset="-120"/>
              </a:rPr>
              <a:t> Set Description</a:t>
            </a:r>
            <a:endParaRPr lang="en-US" sz="4400" b="1" dirty="0"/>
          </a:p>
        </p:txBody>
      </p:sp>
      <p:sp>
        <p:nvSpPr>
          <p:cNvPr id="21" name="Text 2">
            <a:extLst>
              <a:ext uri="{FF2B5EF4-FFF2-40B4-BE49-F238E27FC236}">
                <a16:creationId xmlns:a16="http://schemas.microsoft.com/office/drawing/2014/main" id="{424192EC-9C66-4878-9FE5-0AD41F619A93}"/>
              </a:ext>
            </a:extLst>
          </p:cNvPr>
          <p:cNvSpPr/>
          <p:nvPr/>
        </p:nvSpPr>
        <p:spPr>
          <a:xfrm>
            <a:off x="704432" y="1248160"/>
            <a:ext cx="4192614" cy="411034"/>
          </a:xfrm>
          <a:prstGeom prst="rect">
            <a:avLst/>
          </a:prstGeom>
          <a:noFill/>
          <a:ln/>
        </p:spPr>
        <p:txBody>
          <a:bodyPr wrap="none" rtlCol="0" anchor="t"/>
          <a:lstStyle/>
          <a:p>
            <a:pPr marL="0" indent="0">
              <a:lnSpc>
                <a:spcPts val="2734"/>
              </a:lnSpc>
              <a:buNone/>
            </a:pPr>
            <a:r>
              <a:rPr lang="en-US" altLang="zh-CN" sz="2187" b="1" dirty="0" err="1">
                <a:solidFill>
                  <a:srgbClr val="312F2B"/>
                </a:solidFill>
                <a:ea typeface="Gelasio" pitchFamily="34" charset="-122"/>
                <a:cs typeface="Gelasio" pitchFamily="34" charset="-120"/>
              </a:rPr>
              <a:t>Ⅳ</a:t>
            </a:r>
            <a:r>
              <a:rPr lang="en-US" sz="2187" b="1" dirty="0" err="1">
                <a:solidFill>
                  <a:srgbClr val="312F2B"/>
                </a:solidFill>
                <a:ea typeface="Gelasio" pitchFamily="34" charset="-122"/>
                <a:cs typeface="Gelasio" pitchFamily="34" charset="-120"/>
              </a:rPr>
              <a:t>.</a:t>
            </a:r>
            <a:r>
              <a:rPr lang="en-US" altLang="zh-CN" sz="2800" b="1" dirty="0" err="1">
                <a:solidFill>
                  <a:srgbClr val="312F2B"/>
                </a:solidFill>
                <a:ea typeface="Gelasio" pitchFamily="34" charset="-122"/>
                <a:cs typeface="Gelasio" pitchFamily="34" charset="-120"/>
              </a:rPr>
              <a:t>Preparation</a:t>
            </a:r>
            <a:r>
              <a:rPr lang="en-US" altLang="zh-CN" sz="2800" b="1" dirty="0">
                <a:solidFill>
                  <a:srgbClr val="312F2B"/>
                </a:solidFill>
                <a:ea typeface="Gelasio" pitchFamily="34" charset="-122"/>
                <a:cs typeface="Gelasio" pitchFamily="34" charset="-120"/>
              </a:rPr>
              <a:t> of PCA</a:t>
            </a:r>
            <a:endParaRPr lang="en-US" sz="2800" b="1" dirty="0"/>
          </a:p>
        </p:txBody>
      </p:sp>
      <p:sp>
        <p:nvSpPr>
          <p:cNvPr id="24" name="Text 5">
            <a:extLst>
              <a:ext uri="{FF2B5EF4-FFF2-40B4-BE49-F238E27FC236}">
                <a16:creationId xmlns:a16="http://schemas.microsoft.com/office/drawing/2014/main" id="{AE96C67A-930E-AC0E-00B2-2E5BF30FBA29}"/>
              </a:ext>
            </a:extLst>
          </p:cNvPr>
          <p:cNvSpPr/>
          <p:nvPr/>
        </p:nvSpPr>
        <p:spPr>
          <a:xfrm>
            <a:off x="552033" y="1810357"/>
            <a:ext cx="6682051" cy="2569976"/>
          </a:xfrm>
          <a:prstGeom prst="rect">
            <a:avLst/>
          </a:prstGeom>
          <a:noFill/>
          <a:ln/>
        </p:spPr>
        <p:txBody>
          <a:bodyPr wrap="square" rtlCol="0" anchor="t"/>
          <a:lstStyle/>
          <a:p>
            <a:pPr marL="0" indent="0">
              <a:lnSpc>
                <a:spcPts val="2799"/>
              </a:lnSpc>
              <a:buNone/>
            </a:pPr>
            <a:endParaRPr lang="en-US" sz="1750" dirty="0"/>
          </a:p>
        </p:txBody>
      </p:sp>
      <p:sp>
        <p:nvSpPr>
          <p:cNvPr id="25" name="Text 5">
            <a:extLst>
              <a:ext uri="{FF2B5EF4-FFF2-40B4-BE49-F238E27FC236}">
                <a16:creationId xmlns:a16="http://schemas.microsoft.com/office/drawing/2014/main" id="{F22E247A-5CD5-813E-F143-DC33B5D9DCFE}"/>
              </a:ext>
            </a:extLst>
          </p:cNvPr>
          <p:cNvSpPr/>
          <p:nvPr/>
        </p:nvSpPr>
        <p:spPr>
          <a:xfrm>
            <a:off x="704432" y="1962756"/>
            <a:ext cx="7466173" cy="5713779"/>
          </a:xfrm>
          <a:prstGeom prst="rect">
            <a:avLst/>
          </a:prstGeom>
          <a:noFill/>
          <a:ln/>
        </p:spPr>
        <p:txBody>
          <a:bodyPr wrap="square" rtlCol="0" anchor="t"/>
          <a:lstStyle/>
          <a:p>
            <a:pPr marL="0" indent="0">
              <a:lnSpc>
                <a:spcPts val="2799"/>
              </a:lnSpc>
              <a:buNone/>
            </a:pPr>
            <a:r>
              <a:rPr lang="en-US" sz="2400" b="1" dirty="0">
                <a:solidFill>
                  <a:srgbClr val="272525"/>
                </a:solidFill>
                <a:ea typeface="Lato" pitchFamily="34" charset="-122"/>
                <a:cs typeface="Lato" pitchFamily="34" charset="-120"/>
              </a:rPr>
              <a:t>Step 1.</a:t>
            </a:r>
            <a:r>
              <a:rPr lang="en-US" altLang="zh-CN" sz="2400" b="1" dirty="0">
                <a:solidFill>
                  <a:srgbClr val="272525"/>
                </a:solidFill>
                <a:ea typeface="Lato" pitchFamily="34" charset="-122"/>
                <a:cs typeface="Lato" pitchFamily="34" charset="-120"/>
              </a:rPr>
              <a:t> Data standardization</a:t>
            </a:r>
          </a:p>
          <a:p>
            <a:pPr marL="0" indent="0">
              <a:lnSpc>
                <a:spcPts val="2799"/>
              </a:lnSpc>
              <a:buNone/>
            </a:pPr>
            <a:endParaRPr lang="en-US" altLang="zh-CN" sz="1750" dirty="0">
              <a:solidFill>
                <a:srgbClr val="272525"/>
              </a:solidFill>
              <a:latin typeface="Lato" pitchFamily="34" charset="0"/>
              <a:ea typeface="Lato" pitchFamily="34" charset="-122"/>
              <a:cs typeface="Lato" pitchFamily="34" charset="-120"/>
            </a:endParaRPr>
          </a:p>
          <a:p>
            <a:pPr marL="0" indent="0">
              <a:lnSpc>
                <a:spcPts val="2799"/>
              </a:lnSpc>
              <a:buNone/>
            </a:pPr>
            <a:r>
              <a:rPr lang="en-US" altLang="zh-CN" sz="2000" dirty="0">
                <a:solidFill>
                  <a:srgbClr val="272525"/>
                </a:solidFill>
                <a:ea typeface="Lato" panose="020F0502020204030203" pitchFamily="34" charset="0"/>
                <a:cs typeface="Lato" panose="020F0502020204030203" pitchFamily="34" charset="0"/>
              </a:rPr>
              <a:t>Scaling all features to the same dimension ensures fair treatment of each feature when calculating principal components.</a:t>
            </a:r>
          </a:p>
          <a:p>
            <a:pPr marL="0" indent="0">
              <a:lnSpc>
                <a:spcPts val="2799"/>
              </a:lnSpc>
              <a:buNone/>
            </a:pPr>
            <a:endParaRPr lang="en-US" sz="1750" dirty="0">
              <a:solidFill>
                <a:srgbClr val="272525"/>
              </a:solidFill>
              <a:latin typeface="Lato" pitchFamily="34" charset="0"/>
              <a:ea typeface="Lato" pitchFamily="34" charset="-122"/>
              <a:cs typeface="Lato" pitchFamily="34" charset="-120"/>
            </a:endParaRPr>
          </a:p>
          <a:p>
            <a:pPr marL="0" indent="0">
              <a:lnSpc>
                <a:spcPts val="2799"/>
              </a:lnSpc>
              <a:buNone/>
            </a:pPr>
            <a:endParaRPr lang="en-US" sz="1750" dirty="0">
              <a:solidFill>
                <a:srgbClr val="272525"/>
              </a:solidFill>
              <a:latin typeface="Lato" pitchFamily="34" charset="0"/>
              <a:ea typeface="Lato" pitchFamily="34" charset="-122"/>
              <a:cs typeface="Lato" pitchFamily="34" charset="-120"/>
            </a:endParaRPr>
          </a:p>
          <a:p>
            <a:pPr marL="0" indent="0">
              <a:lnSpc>
                <a:spcPts val="2799"/>
              </a:lnSpc>
              <a:buNone/>
            </a:pPr>
            <a:endParaRPr lang="en-US" sz="1750" dirty="0">
              <a:solidFill>
                <a:srgbClr val="272525"/>
              </a:solidFill>
              <a:latin typeface="Lato" pitchFamily="34" charset="0"/>
              <a:ea typeface="Lato" pitchFamily="34" charset="-122"/>
              <a:cs typeface="Lato" pitchFamily="34" charset="-120"/>
            </a:endParaRPr>
          </a:p>
          <a:p>
            <a:pPr marL="0" indent="0">
              <a:lnSpc>
                <a:spcPts val="2799"/>
              </a:lnSpc>
              <a:buNone/>
            </a:pPr>
            <a:r>
              <a:rPr lang="en-US" sz="2400" b="1" dirty="0">
                <a:solidFill>
                  <a:srgbClr val="272525"/>
                </a:solidFill>
                <a:ea typeface="Lato" pitchFamily="34" charset="-122"/>
                <a:cs typeface="Lato" pitchFamily="34" charset="-120"/>
              </a:rPr>
              <a:t>Step 2.</a:t>
            </a:r>
            <a:r>
              <a:rPr lang="en-US" altLang="zh-CN" sz="2400" b="1" dirty="0">
                <a:solidFill>
                  <a:srgbClr val="272525"/>
                </a:solidFill>
                <a:ea typeface="Lato" pitchFamily="34" charset="-122"/>
                <a:cs typeface="Lato" pitchFamily="34" charset="-120"/>
              </a:rPr>
              <a:t> </a:t>
            </a:r>
            <a:r>
              <a:rPr lang="en-US" altLang="zh-CN" sz="2400" b="1" dirty="0" err="1">
                <a:solidFill>
                  <a:srgbClr val="272525"/>
                </a:solidFill>
                <a:ea typeface="Lato" pitchFamily="34" charset="-122"/>
                <a:cs typeface="Lato" pitchFamily="34" charset="-120"/>
              </a:rPr>
              <a:t>Creat</a:t>
            </a:r>
            <a:r>
              <a:rPr lang="en-US" altLang="zh-CN" sz="2400" b="1" dirty="0">
                <a:solidFill>
                  <a:srgbClr val="272525"/>
                </a:solidFill>
                <a:ea typeface="Lato" pitchFamily="34" charset="-122"/>
                <a:cs typeface="Lato" pitchFamily="34" charset="-120"/>
              </a:rPr>
              <a:t> principal components</a:t>
            </a:r>
          </a:p>
          <a:p>
            <a:pPr marL="0" indent="0">
              <a:lnSpc>
                <a:spcPts val="2799"/>
              </a:lnSpc>
              <a:buNone/>
            </a:pPr>
            <a:endParaRPr lang="en-US" sz="1750" dirty="0">
              <a:solidFill>
                <a:srgbClr val="272525"/>
              </a:solidFill>
              <a:latin typeface="Lato" pitchFamily="34" charset="0"/>
              <a:ea typeface="Lato" pitchFamily="34" charset="-122"/>
              <a:cs typeface="Lato" pitchFamily="34" charset="-120"/>
            </a:endParaRPr>
          </a:p>
          <a:p>
            <a:pPr marL="0" indent="0">
              <a:lnSpc>
                <a:spcPts val="2799"/>
              </a:lnSpc>
              <a:buNone/>
            </a:pPr>
            <a:endParaRPr lang="en-US" sz="1750" dirty="0">
              <a:solidFill>
                <a:srgbClr val="272525"/>
              </a:solidFill>
              <a:latin typeface="Lato" pitchFamily="34" charset="0"/>
              <a:ea typeface="Lato" pitchFamily="34" charset="-122"/>
              <a:cs typeface="Lato" pitchFamily="34" charset="-120"/>
            </a:endParaRPr>
          </a:p>
          <a:p>
            <a:pPr marL="0" indent="0">
              <a:lnSpc>
                <a:spcPts val="2799"/>
              </a:lnSpc>
              <a:buNone/>
            </a:pPr>
            <a:endParaRPr lang="en-US" sz="1750" dirty="0">
              <a:solidFill>
                <a:srgbClr val="272525"/>
              </a:solidFill>
              <a:latin typeface="Lato" pitchFamily="34" charset="0"/>
              <a:ea typeface="Lato" pitchFamily="34" charset="-122"/>
              <a:cs typeface="Lato" pitchFamily="34" charset="-120"/>
            </a:endParaRPr>
          </a:p>
          <a:p>
            <a:pPr marL="0" indent="0">
              <a:lnSpc>
                <a:spcPts val="2799"/>
              </a:lnSpc>
              <a:buNone/>
            </a:pPr>
            <a:r>
              <a:rPr lang="en-US" sz="2400" b="1" dirty="0">
                <a:solidFill>
                  <a:srgbClr val="272525"/>
                </a:solidFill>
                <a:ea typeface="Lato" pitchFamily="34" charset="-122"/>
                <a:cs typeface="Lato" pitchFamily="34" charset="-120"/>
              </a:rPr>
              <a:t>Step 3.</a:t>
            </a:r>
            <a:r>
              <a:rPr lang="en-US" altLang="zh-CN" sz="2400" b="1" dirty="0">
                <a:solidFill>
                  <a:srgbClr val="272525"/>
                </a:solidFill>
                <a:ea typeface="Lato" pitchFamily="34" charset="-122"/>
                <a:cs typeface="Lato" pitchFamily="34" charset="-120"/>
              </a:rPr>
              <a:t> Principal component analysis fitting</a:t>
            </a:r>
          </a:p>
          <a:p>
            <a:pPr marL="0" indent="0">
              <a:lnSpc>
                <a:spcPts val="2799"/>
              </a:lnSpc>
              <a:buNone/>
            </a:pPr>
            <a:endParaRPr lang="en-US" altLang="zh-CN" sz="1750" dirty="0">
              <a:solidFill>
                <a:srgbClr val="272525"/>
              </a:solidFill>
              <a:latin typeface="Lato" pitchFamily="34" charset="0"/>
              <a:ea typeface="Lato" pitchFamily="34" charset="-122"/>
              <a:cs typeface="Lato" pitchFamily="34" charset="-120"/>
            </a:endParaRPr>
          </a:p>
          <a:p>
            <a:pPr marL="0" indent="0">
              <a:lnSpc>
                <a:spcPts val="2799"/>
              </a:lnSpc>
              <a:buNone/>
            </a:pPr>
            <a:r>
              <a:rPr lang="en-US" altLang="zh-CN" sz="2000" dirty="0">
                <a:solidFill>
                  <a:srgbClr val="272525"/>
                </a:solidFill>
                <a:ea typeface="Lato" panose="020F0502020204030203" pitchFamily="34" charset="0"/>
                <a:cs typeface="Lato" panose="020F0502020204030203" pitchFamily="34" charset="0"/>
              </a:rPr>
              <a:t>Include</a:t>
            </a:r>
            <a:r>
              <a:rPr lang="en-US" altLang="zh-CN" sz="2000" dirty="0">
                <a:solidFill>
                  <a:srgbClr val="272525"/>
                </a:solidFill>
                <a:ea typeface="Lato" pitchFamily="34" charset="-122"/>
                <a:cs typeface="Lato" panose="020F0502020204030203" pitchFamily="34" charset="0"/>
              </a:rPr>
              <a:t>:</a:t>
            </a:r>
            <a:r>
              <a:rPr lang="zh-CN" altLang="en-US" sz="2000" dirty="0">
                <a:solidFill>
                  <a:srgbClr val="272525"/>
                </a:solidFill>
                <a:ea typeface="Lato" pitchFamily="34" charset="-122"/>
                <a:cs typeface="Lato" panose="020F0502020204030203" pitchFamily="34" charset="0"/>
              </a:rPr>
              <a:t> </a:t>
            </a:r>
            <a:r>
              <a:rPr lang="en-US" altLang="zh-CN" sz="2000" dirty="0">
                <a:solidFill>
                  <a:srgbClr val="272525"/>
                </a:solidFill>
                <a:ea typeface="Lato" panose="020F0502020204030203" pitchFamily="34" charset="0"/>
                <a:cs typeface="Lato" panose="020F0502020204030203" pitchFamily="34" charset="0"/>
              </a:rPr>
              <a:t>Calculate the covariance matrix of the data, the eigenvalues and eigenvectors of the covariance matrix. Then, the eigenvectors (i.e. principal components) are sorted based on the size of the eigenvalues.</a:t>
            </a:r>
            <a:endParaRPr lang="en-US" sz="2000" dirty="0">
              <a:solidFill>
                <a:srgbClr val="272525"/>
              </a:solidFill>
              <a:ea typeface="Lato" panose="020F0502020204030203" pitchFamily="34" charset="0"/>
              <a:cs typeface="Lato" panose="020F0502020204030203" pitchFamily="34" charset="0"/>
            </a:endParaRPr>
          </a:p>
        </p:txBody>
      </p:sp>
      <p:pic>
        <p:nvPicPr>
          <p:cNvPr id="26" name="图片 25">
            <a:extLst>
              <a:ext uri="{FF2B5EF4-FFF2-40B4-BE49-F238E27FC236}">
                <a16:creationId xmlns:a16="http://schemas.microsoft.com/office/drawing/2014/main" id="{A0983209-43FF-C868-05E0-8A86A0DF53F8}"/>
              </a:ext>
            </a:extLst>
          </p:cNvPr>
          <p:cNvPicPr>
            <a:picLocks noChangeAspect="1"/>
          </p:cNvPicPr>
          <p:nvPr/>
        </p:nvPicPr>
        <p:blipFill>
          <a:blip r:embed="rId3"/>
          <a:stretch>
            <a:fillRect/>
          </a:stretch>
        </p:blipFill>
        <p:spPr>
          <a:xfrm>
            <a:off x="9067799" y="2074941"/>
            <a:ext cx="4559709" cy="1020404"/>
          </a:xfrm>
          <a:prstGeom prst="rect">
            <a:avLst/>
          </a:prstGeom>
        </p:spPr>
      </p:pic>
      <p:pic>
        <p:nvPicPr>
          <p:cNvPr id="27" name="图片 26">
            <a:extLst>
              <a:ext uri="{FF2B5EF4-FFF2-40B4-BE49-F238E27FC236}">
                <a16:creationId xmlns:a16="http://schemas.microsoft.com/office/drawing/2014/main" id="{E000A4F7-451E-04FA-AB0C-B1B2574F37FF}"/>
              </a:ext>
            </a:extLst>
          </p:cNvPr>
          <p:cNvPicPr>
            <a:picLocks noChangeAspect="1"/>
          </p:cNvPicPr>
          <p:nvPr/>
        </p:nvPicPr>
        <p:blipFill>
          <a:blip r:embed="rId4"/>
          <a:stretch>
            <a:fillRect/>
          </a:stretch>
        </p:blipFill>
        <p:spPr>
          <a:xfrm>
            <a:off x="7815158" y="4624061"/>
            <a:ext cx="6815242" cy="1186804"/>
          </a:xfrm>
          <a:prstGeom prst="rect">
            <a:avLst/>
          </a:prstGeom>
        </p:spPr>
      </p:pic>
      <p:sp>
        <p:nvSpPr>
          <p:cNvPr id="28" name="箭头: 右 27">
            <a:extLst>
              <a:ext uri="{FF2B5EF4-FFF2-40B4-BE49-F238E27FC236}">
                <a16:creationId xmlns:a16="http://schemas.microsoft.com/office/drawing/2014/main" id="{5B8F4558-84F7-1409-4C73-E22CBB439075}"/>
              </a:ext>
            </a:extLst>
          </p:cNvPr>
          <p:cNvSpPr/>
          <p:nvPr/>
        </p:nvSpPr>
        <p:spPr>
          <a:xfrm rot="479905">
            <a:off x="5305824" y="4906098"/>
            <a:ext cx="2501030" cy="1380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右 28">
            <a:extLst>
              <a:ext uri="{FF2B5EF4-FFF2-40B4-BE49-F238E27FC236}">
                <a16:creationId xmlns:a16="http://schemas.microsoft.com/office/drawing/2014/main" id="{B6B6DD9F-4CC8-A881-B219-F629B7CC4DA2}"/>
              </a:ext>
            </a:extLst>
          </p:cNvPr>
          <p:cNvSpPr/>
          <p:nvPr/>
        </p:nvSpPr>
        <p:spPr>
          <a:xfrm rot="20752159">
            <a:off x="6019732" y="5638294"/>
            <a:ext cx="1799758" cy="985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785"/>
            <a:ext cx="14630400" cy="8229600"/>
          </a:xfrm>
          <a:prstGeom prst="rect">
            <a:avLst/>
          </a:prstGeom>
          <a:solidFill>
            <a:srgbClr val="FFFFFF">
              <a:alpha val="75000"/>
            </a:srgbClr>
          </a:solidFill>
          <a:ln w="10835">
            <a:solidFill>
              <a:srgbClr val="FFFFFF">
                <a:alpha val="64000"/>
              </a:srgbClr>
            </a:solidFill>
            <a:prstDash val="solid"/>
          </a:ln>
        </p:spPr>
      </p:sp>
      <p:sp>
        <p:nvSpPr>
          <p:cNvPr id="5" name="Shape 2"/>
          <p:cNvSpPr/>
          <p:nvPr/>
        </p:nvSpPr>
        <p:spPr>
          <a:xfrm>
            <a:off x="984887" y="1858327"/>
            <a:ext cx="34885" cy="6371273"/>
          </a:xfrm>
          <a:prstGeom prst="rect">
            <a:avLst/>
          </a:prstGeom>
          <a:solidFill>
            <a:srgbClr val="D1D1C7"/>
          </a:solidFill>
          <a:ln/>
        </p:spPr>
      </p:sp>
      <p:sp>
        <p:nvSpPr>
          <p:cNvPr id="7" name="Shape 4"/>
          <p:cNvSpPr/>
          <p:nvPr/>
        </p:nvSpPr>
        <p:spPr>
          <a:xfrm>
            <a:off x="805578" y="2473302"/>
            <a:ext cx="393502" cy="393502"/>
          </a:xfrm>
          <a:prstGeom prst="roundRect">
            <a:avLst>
              <a:gd name="adj" fmla="val 20002"/>
            </a:avLst>
          </a:prstGeom>
          <a:solidFill>
            <a:srgbClr val="E8E8E3"/>
          </a:solidFill>
          <a:ln w="10835">
            <a:solidFill>
              <a:srgbClr val="D1D1C7"/>
            </a:solidFill>
            <a:prstDash val="solid"/>
          </a:ln>
        </p:spPr>
      </p:sp>
      <p:sp>
        <p:nvSpPr>
          <p:cNvPr id="8" name="Text 5"/>
          <p:cNvSpPr/>
          <p:nvPr/>
        </p:nvSpPr>
        <p:spPr>
          <a:xfrm>
            <a:off x="930652" y="1313855"/>
            <a:ext cx="114300" cy="328017"/>
          </a:xfrm>
          <a:prstGeom prst="rect">
            <a:avLst/>
          </a:prstGeom>
          <a:noFill/>
          <a:ln/>
        </p:spPr>
        <p:txBody>
          <a:bodyPr wrap="none" rtlCol="0" anchor="t"/>
          <a:lstStyle/>
          <a:p>
            <a:pPr marL="0" indent="0" algn="ctr">
              <a:lnSpc>
                <a:spcPts val="2582"/>
              </a:lnSpc>
              <a:buNone/>
            </a:pPr>
            <a:endParaRPr lang="en-US" sz="2066" dirty="0"/>
          </a:p>
        </p:txBody>
      </p:sp>
      <p:sp>
        <p:nvSpPr>
          <p:cNvPr id="9" name="Text 6"/>
          <p:cNvSpPr/>
          <p:nvPr/>
        </p:nvSpPr>
        <p:spPr>
          <a:xfrm>
            <a:off x="1949768" y="1319451"/>
            <a:ext cx="2286000" cy="273248"/>
          </a:xfrm>
          <a:prstGeom prst="rect">
            <a:avLst/>
          </a:prstGeom>
          <a:noFill/>
          <a:ln/>
        </p:spPr>
        <p:txBody>
          <a:bodyPr wrap="none" rtlCol="0" anchor="t"/>
          <a:lstStyle/>
          <a:p>
            <a:pPr marL="0" indent="0" algn="l">
              <a:lnSpc>
                <a:spcPts val="2152"/>
              </a:lnSpc>
              <a:buNone/>
            </a:pPr>
            <a:endParaRPr lang="en-US" sz="1722" dirty="0"/>
          </a:p>
        </p:txBody>
      </p:sp>
      <p:sp>
        <p:nvSpPr>
          <p:cNvPr id="13" name="Text 10"/>
          <p:cNvSpPr/>
          <p:nvPr/>
        </p:nvSpPr>
        <p:spPr>
          <a:xfrm>
            <a:off x="930652" y="2431018"/>
            <a:ext cx="144780" cy="328017"/>
          </a:xfrm>
          <a:prstGeom prst="rect">
            <a:avLst/>
          </a:prstGeom>
          <a:noFill/>
          <a:ln/>
        </p:spPr>
        <p:txBody>
          <a:bodyPr wrap="none" rtlCol="0" anchor="t"/>
          <a:lstStyle/>
          <a:p>
            <a:pPr marL="0" indent="0" algn="ctr">
              <a:lnSpc>
                <a:spcPts val="2582"/>
              </a:lnSpc>
              <a:buNone/>
            </a:pPr>
            <a:r>
              <a:rPr lang="en-US" sz="2066" dirty="0">
                <a:solidFill>
                  <a:srgbClr val="272525"/>
                </a:solidFill>
                <a:latin typeface="Gelasio" pitchFamily="34" charset="0"/>
                <a:ea typeface="Gelasio" pitchFamily="34" charset="-122"/>
                <a:cs typeface="Gelasio" pitchFamily="34" charset="-120"/>
              </a:rPr>
              <a:t>1</a:t>
            </a:r>
            <a:endParaRPr lang="en-US" sz="2066" dirty="0"/>
          </a:p>
        </p:txBody>
      </p:sp>
      <p:sp>
        <p:nvSpPr>
          <p:cNvPr id="16" name="Shape 13"/>
          <p:cNvSpPr/>
          <p:nvPr/>
        </p:nvSpPr>
        <p:spPr>
          <a:xfrm>
            <a:off x="1213548" y="2677910"/>
            <a:ext cx="612100" cy="34885"/>
          </a:xfrm>
          <a:prstGeom prst="rect">
            <a:avLst/>
          </a:prstGeom>
          <a:solidFill>
            <a:srgbClr val="D1D1C7"/>
          </a:solidFill>
          <a:ln/>
        </p:spPr>
      </p:sp>
      <p:sp>
        <p:nvSpPr>
          <p:cNvPr id="17" name="Shape 14"/>
          <p:cNvSpPr/>
          <p:nvPr/>
        </p:nvSpPr>
        <p:spPr>
          <a:xfrm>
            <a:off x="791111" y="5878852"/>
            <a:ext cx="393502" cy="393502"/>
          </a:xfrm>
          <a:prstGeom prst="roundRect">
            <a:avLst>
              <a:gd name="adj" fmla="val 20002"/>
            </a:avLst>
          </a:prstGeom>
          <a:solidFill>
            <a:srgbClr val="E8E8E3"/>
          </a:solidFill>
          <a:ln w="10835">
            <a:solidFill>
              <a:srgbClr val="D1D1C7"/>
            </a:solidFill>
            <a:prstDash val="solid"/>
          </a:ln>
        </p:spPr>
      </p:sp>
      <p:sp>
        <p:nvSpPr>
          <p:cNvPr id="28" name="Text 25"/>
          <p:cNvSpPr/>
          <p:nvPr/>
        </p:nvSpPr>
        <p:spPr>
          <a:xfrm>
            <a:off x="919222" y="5771198"/>
            <a:ext cx="137160" cy="328017"/>
          </a:xfrm>
          <a:prstGeom prst="rect">
            <a:avLst/>
          </a:prstGeom>
          <a:noFill/>
          <a:ln/>
        </p:spPr>
        <p:txBody>
          <a:bodyPr wrap="none" rtlCol="0" anchor="t"/>
          <a:lstStyle/>
          <a:p>
            <a:pPr marL="0" indent="0" algn="ctr">
              <a:lnSpc>
                <a:spcPts val="2582"/>
              </a:lnSpc>
              <a:buNone/>
            </a:pPr>
            <a:endParaRPr lang="en-US" sz="2066" dirty="0"/>
          </a:p>
        </p:txBody>
      </p:sp>
      <p:sp>
        <p:nvSpPr>
          <p:cNvPr id="29" name="Text 26"/>
          <p:cNvSpPr/>
          <p:nvPr/>
        </p:nvSpPr>
        <p:spPr>
          <a:xfrm>
            <a:off x="1841605" y="2509482"/>
            <a:ext cx="2811780" cy="273248"/>
          </a:xfrm>
          <a:prstGeom prst="rect">
            <a:avLst/>
          </a:prstGeom>
          <a:noFill/>
          <a:ln/>
        </p:spPr>
        <p:txBody>
          <a:bodyPr wrap="none" rtlCol="0" anchor="t"/>
          <a:lstStyle/>
          <a:p>
            <a:pPr marL="0" indent="0" algn="l">
              <a:lnSpc>
                <a:spcPts val="2152"/>
              </a:lnSpc>
              <a:buNone/>
            </a:pPr>
            <a:r>
              <a:rPr lang="en-US" sz="2400" b="1" dirty="0">
                <a:solidFill>
                  <a:srgbClr val="272525"/>
                </a:solidFill>
                <a:latin typeface="Gelasio" pitchFamily="34" charset="0"/>
                <a:ea typeface="Gelasio" pitchFamily="34" charset="-122"/>
                <a:cs typeface="Gelasio" pitchFamily="34" charset="-120"/>
              </a:rPr>
              <a:t>Compute Principal Components</a:t>
            </a:r>
            <a:endParaRPr lang="en-US" sz="2400" b="1" dirty="0"/>
          </a:p>
        </p:txBody>
      </p:sp>
      <p:sp>
        <p:nvSpPr>
          <p:cNvPr id="30" name="Text 27"/>
          <p:cNvSpPr/>
          <p:nvPr/>
        </p:nvSpPr>
        <p:spPr>
          <a:xfrm>
            <a:off x="1949767" y="2942867"/>
            <a:ext cx="4004668" cy="839391"/>
          </a:xfrm>
          <a:prstGeom prst="rect">
            <a:avLst/>
          </a:prstGeom>
          <a:noFill/>
          <a:ln/>
        </p:spPr>
        <p:txBody>
          <a:bodyPr wrap="square" rtlCol="0" anchor="t"/>
          <a:lstStyle/>
          <a:p>
            <a:pPr marL="0" indent="0" algn="l">
              <a:lnSpc>
                <a:spcPts val="2204"/>
              </a:lnSpc>
              <a:buNone/>
            </a:pPr>
            <a:r>
              <a:rPr lang="en-US" sz="2000" dirty="0">
                <a:solidFill>
                  <a:srgbClr val="272525"/>
                </a:solidFill>
                <a:ea typeface="Lato" pitchFamily="34" charset="-122"/>
                <a:cs typeface="Lato" pitchFamily="34" charset="-120"/>
              </a:rPr>
              <a:t>The program calculates the principal components of the data using the PCA() function.</a:t>
            </a:r>
            <a:endParaRPr lang="en-US" sz="2000" dirty="0"/>
          </a:p>
        </p:txBody>
      </p:sp>
      <p:sp>
        <p:nvSpPr>
          <p:cNvPr id="33" name="Text 1">
            <a:extLst>
              <a:ext uri="{FF2B5EF4-FFF2-40B4-BE49-F238E27FC236}">
                <a16:creationId xmlns:a16="http://schemas.microsoft.com/office/drawing/2014/main" id="{CBA31B6D-4A8A-6E54-E4F4-681E659CC149}"/>
              </a:ext>
            </a:extLst>
          </p:cNvPr>
          <p:cNvSpPr/>
          <p:nvPr/>
        </p:nvSpPr>
        <p:spPr>
          <a:xfrm>
            <a:off x="552033" y="211573"/>
            <a:ext cx="7978140" cy="694373"/>
          </a:xfrm>
          <a:prstGeom prst="rect">
            <a:avLst/>
          </a:prstGeom>
          <a:noFill/>
          <a:ln/>
        </p:spPr>
        <p:txBody>
          <a:bodyPr wrap="none" rtlCol="0" anchor="t"/>
          <a:lstStyle/>
          <a:p>
            <a:pPr marL="0" indent="0">
              <a:lnSpc>
                <a:spcPts val="5468"/>
              </a:lnSpc>
              <a:buNone/>
            </a:pPr>
            <a:r>
              <a:rPr lang="en-US" altLang="zh-CN" sz="4400" b="1" dirty="0">
                <a:solidFill>
                  <a:srgbClr val="312F2B"/>
                </a:solidFill>
                <a:ea typeface="Gelasio" pitchFamily="34" charset="-122"/>
                <a:cs typeface="Gelasio" pitchFamily="34" charset="-120"/>
              </a:rPr>
              <a:t>Part two:</a:t>
            </a:r>
          </a:p>
          <a:p>
            <a:pPr marL="0" indent="0">
              <a:lnSpc>
                <a:spcPts val="5468"/>
              </a:lnSpc>
              <a:buNone/>
            </a:pPr>
            <a:r>
              <a:rPr lang="en-US" altLang="zh-CN" sz="4400" b="1" dirty="0"/>
              <a:t>Steps taken during the PCA analysis and interpreting results</a:t>
            </a:r>
          </a:p>
        </p:txBody>
      </p:sp>
      <p:pic>
        <p:nvPicPr>
          <p:cNvPr id="35" name="图片 34">
            <a:extLst>
              <a:ext uri="{FF2B5EF4-FFF2-40B4-BE49-F238E27FC236}">
                <a16:creationId xmlns:a16="http://schemas.microsoft.com/office/drawing/2014/main" id="{6660AA2E-FD3E-5A2A-BF23-912FD82613C7}"/>
              </a:ext>
            </a:extLst>
          </p:cNvPr>
          <p:cNvPicPr>
            <a:picLocks noChangeAspect="1"/>
          </p:cNvPicPr>
          <p:nvPr/>
        </p:nvPicPr>
        <p:blipFill>
          <a:blip r:embed="rId4"/>
          <a:stretch>
            <a:fillRect/>
          </a:stretch>
        </p:blipFill>
        <p:spPr>
          <a:xfrm>
            <a:off x="7657542" y="6427458"/>
            <a:ext cx="6177008" cy="1738325"/>
          </a:xfrm>
          <a:prstGeom prst="rect">
            <a:avLst/>
          </a:prstGeom>
        </p:spPr>
      </p:pic>
      <p:sp>
        <p:nvSpPr>
          <p:cNvPr id="36" name="Text 26">
            <a:extLst>
              <a:ext uri="{FF2B5EF4-FFF2-40B4-BE49-F238E27FC236}">
                <a16:creationId xmlns:a16="http://schemas.microsoft.com/office/drawing/2014/main" id="{612DA331-25B6-9DD8-42F7-74333A9D0B63}"/>
              </a:ext>
            </a:extLst>
          </p:cNvPr>
          <p:cNvSpPr/>
          <p:nvPr/>
        </p:nvSpPr>
        <p:spPr>
          <a:xfrm>
            <a:off x="1864299" y="5938979"/>
            <a:ext cx="2811780" cy="273248"/>
          </a:xfrm>
          <a:prstGeom prst="rect">
            <a:avLst/>
          </a:prstGeom>
          <a:noFill/>
          <a:ln/>
        </p:spPr>
        <p:txBody>
          <a:bodyPr wrap="none" rtlCol="0" anchor="t"/>
          <a:lstStyle/>
          <a:p>
            <a:pPr marL="0" indent="0" algn="l">
              <a:lnSpc>
                <a:spcPts val="2152"/>
              </a:lnSpc>
              <a:buNone/>
            </a:pPr>
            <a:r>
              <a:rPr lang="en-US" altLang="zh-CN" sz="2400" b="1" dirty="0"/>
              <a:t>Choosing the appropriate number of principal components</a:t>
            </a:r>
            <a:endParaRPr lang="en-US" sz="2400" b="1" dirty="0"/>
          </a:p>
        </p:txBody>
      </p:sp>
      <p:sp>
        <p:nvSpPr>
          <p:cNvPr id="37" name="Shape 13">
            <a:extLst>
              <a:ext uri="{FF2B5EF4-FFF2-40B4-BE49-F238E27FC236}">
                <a16:creationId xmlns:a16="http://schemas.microsoft.com/office/drawing/2014/main" id="{22BBE884-1932-4DD3-587F-0E6D1E14375C}"/>
              </a:ext>
            </a:extLst>
          </p:cNvPr>
          <p:cNvSpPr/>
          <p:nvPr/>
        </p:nvSpPr>
        <p:spPr>
          <a:xfrm>
            <a:off x="1178719" y="6090304"/>
            <a:ext cx="612100" cy="34885"/>
          </a:xfrm>
          <a:prstGeom prst="rect">
            <a:avLst/>
          </a:prstGeom>
          <a:solidFill>
            <a:srgbClr val="D1D1C7"/>
          </a:solidFill>
          <a:ln/>
        </p:spPr>
      </p:sp>
      <p:sp>
        <p:nvSpPr>
          <p:cNvPr id="38" name="Text 10">
            <a:extLst>
              <a:ext uri="{FF2B5EF4-FFF2-40B4-BE49-F238E27FC236}">
                <a16:creationId xmlns:a16="http://schemas.microsoft.com/office/drawing/2014/main" id="{6B31D3F7-2D00-2F64-F965-23BB070E4A34}"/>
              </a:ext>
            </a:extLst>
          </p:cNvPr>
          <p:cNvSpPr/>
          <p:nvPr/>
        </p:nvSpPr>
        <p:spPr>
          <a:xfrm>
            <a:off x="922906" y="5877067"/>
            <a:ext cx="144780" cy="328017"/>
          </a:xfrm>
          <a:prstGeom prst="rect">
            <a:avLst/>
          </a:prstGeom>
          <a:noFill/>
          <a:ln/>
        </p:spPr>
        <p:txBody>
          <a:bodyPr wrap="none" rtlCol="0" anchor="t"/>
          <a:lstStyle/>
          <a:p>
            <a:pPr marL="0" indent="0" algn="ctr">
              <a:lnSpc>
                <a:spcPts val="2582"/>
              </a:lnSpc>
              <a:buNone/>
            </a:pPr>
            <a:r>
              <a:rPr lang="en-US" sz="2066" dirty="0">
                <a:solidFill>
                  <a:srgbClr val="272525"/>
                </a:solidFill>
                <a:latin typeface="Gelasio" pitchFamily="34" charset="0"/>
                <a:ea typeface="Gelasio" pitchFamily="34" charset="-122"/>
              </a:rPr>
              <a:t>2</a:t>
            </a:r>
            <a:endParaRPr lang="en-US" sz="2066" dirty="0"/>
          </a:p>
        </p:txBody>
      </p:sp>
      <p:sp>
        <p:nvSpPr>
          <p:cNvPr id="39" name="Text 27">
            <a:extLst>
              <a:ext uri="{FF2B5EF4-FFF2-40B4-BE49-F238E27FC236}">
                <a16:creationId xmlns:a16="http://schemas.microsoft.com/office/drawing/2014/main" id="{122B7509-B9BA-39A9-7082-482642F2A028}"/>
              </a:ext>
            </a:extLst>
          </p:cNvPr>
          <p:cNvSpPr/>
          <p:nvPr/>
        </p:nvSpPr>
        <p:spPr>
          <a:xfrm>
            <a:off x="1949768" y="6427458"/>
            <a:ext cx="5225322" cy="1123716"/>
          </a:xfrm>
          <a:prstGeom prst="rect">
            <a:avLst/>
          </a:prstGeom>
          <a:noFill/>
          <a:ln/>
        </p:spPr>
        <p:txBody>
          <a:bodyPr wrap="square" rtlCol="0" anchor="t"/>
          <a:lstStyle/>
          <a:p>
            <a:pPr marL="0" indent="0" algn="l">
              <a:lnSpc>
                <a:spcPts val="2204"/>
              </a:lnSpc>
              <a:buNone/>
            </a:pPr>
            <a:r>
              <a:rPr lang="en-US" altLang="zh-CN" sz="2000" dirty="0">
                <a:solidFill>
                  <a:srgbClr val="272525"/>
                </a:solidFill>
                <a:ea typeface="Lato" pitchFamily="34" charset="-122"/>
                <a:cs typeface="Lato" pitchFamily="34" charset="-120"/>
              </a:rPr>
              <a:t>Determine the main principal component number required to explain at least 80% of the variance by analyzing the cumulative explanatory variance.</a:t>
            </a:r>
            <a:endParaRPr lang="en-US" sz="2000" dirty="0"/>
          </a:p>
        </p:txBody>
      </p:sp>
      <p:pic>
        <p:nvPicPr>
          <p:cNvPr id="40" name="图片 39">
            <a:extLst>
              <a:ext uri="{FF2B5EF4-FFF2-40B4-BE49-F238E27FC236}">
                <a16:creationId xmlns:a16="http://schemas.microsoft.com/office/drawing/2014/main" id="{D7D3BAC6-BFE8-EFB1-382F-1DF3D9F6FBE7}"/>
              </a:ext>
            </a:extLst>
          </p:cNvPr>
          <p:cNvPicPr>
            <a:picLocks noChangeAspect="1"/>
          </p:cNvPicPr>
          <p:nvPr/>
        </p:nvPicPr>
        <p:blipFill>
          <a:blip r:embed="rId5"/>
          <a:stretch>
            <a:fillRect/>
          </a:stretch>
        </p:blipFill>
        <p:spPr>
          <a:xfrm>
            <a:off x="7657542" y="2510440"/>
            <a:ext cx="6815242" cy="11868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785"/>
            <a:ext cx="14630400" cy="8229600"/>
          </a:xfrm>
          <a:prstGeom prst="rect">
            <a:avLst/>
          </a:prstGeom>
          <a:solidFill>
            <a:srgbClr val="FFFFFF">
              <a:alpha val="75000"/>
            </a:srgbClr>
          </a:solidFill>
          <a:ln w="10835">
            <a:solidFill>
              <a:srgbClr val="FFFFFF">
                <a:alpha val="64000"/>
              </a:srgbClr>
            </a:solidFill>
            <a:prstDash val="solid"/>
          </a:ln>
        </p:spPr>
      </p:sp>
      <p:sp>
        <p:nvSpPr>
          <p:cNvPr id="5" name="Shape 2"/>
          <p:cNvSpPr/>
          <p:nvPr/>
        </p:nvSpPr>
        <p:spPr>
          <a:xfrm>
            <a:off x="984887" y="1858327"/>
            <a:ext cx="34885" cy="6371273"/>
          </a:xfrm>
          <a:prstGeom prst="rect">
            <a:avLst/>
          </a:prstGeom>
          <a:solidFill>
            <a:srgbClr val="D1D1C7"/>
          </a:solidFill>
          <a:ln/>
        </p:spPr>
      </p:sp>
      <p:sp>
        <p:nvSpPr>
          <p:cNvPr id="7" name="Shape 4"/>
          <p:cNvSpPr/>
          <p:nvPr/>
        </p:nvSpPr>
        <p:spPr>
          <a:xfrm>
            <a:off x="805578" y="2473302"/>
            <a:ext cx="393502" cy="393502"/>
          </a:xfrm>
          <a:prstGeom prst="roundRect">
            <a:avLst>
              <a:gd name="adj" fmla="val 20002"/>
            </a:avLst>
          </a:prstGeom>
          <a:solidFill>
            <a:srgbClr val="E8E8E3"/>
          </a:solidFill>
          <a:ln w="10835">
            <a:solidFill>
              <a:srgbClr val="D1D1C7"/>
            </a:solidFill>
            <a:prstDash val="solid"/>
          </a:ln>
        </p:spPr>
      </p:sp>
      <p:sp>
        <p:nvSpPr>
          <p:cNvPr id="8" name="Text 5"/>
          <p:cNvSpPr/>
          <p:nvPr/>
        </p:nvSpPr>
        <p:spPr>
          <a:xfrm>
            <a:off x="930652" y="1313855"/>
            <a:ext cx="114300" cy="328017"/>
          </a:xfrm>
          <a:prstGeom prst="rect">
            <a:avLst/>
          </a:prstGeom>
          <a:noFill/>
          <a:ln/>
        </p:spPr>
        <p:txBody>
          <a:bodyPr wrap="none" rtlCol="0" anchor="t"/>
          <a:lstStyle/>
          <a:p>
            <a:pPr marL="0" indent="0" algn="ctr">
              <a:lnSpc>
                <a:spcPts val="2582"/>
              </a:lnSpc>
              <a:buNone/>
            </a:pPr>
            <a:endParaRPr lang="en-US" sz="2066" dirty="0"/>
          </a:p>
        </p:txBody>
      </p:sp>
      <p:sp>
        <p:nvSpPr>
          <p:cNvPr id="9" name="Text 6"/>
          <p:cNvSpPr/>
          <p:nvPr/>
        </p:nvSpPr>
        <p:spPr>
          <a:xfrm>
            <a:off x="1949768" y="1319451"/>
            <a:ext cx="2286000" cy="273248"/>
          </a:xfrm>
          <a:prstGeom prst="rect">
            <a:avLst/>
          </a:prstGeom>
          <a:noFill/>
          <a:ln/>
        </p:spPr>
        <p:txBody>
          <a:bodyPr wrap="none" rtlCol="0" anchor="t"/>
          <a:lstStyle/>
          <a:p>
            <a:pPr marL="0" indent="0" algn="l">
              <a:lnSpc>
                <a:spcPts val="2152"/>
              </a:lnSpc>
              <a:buNone/>
            </a:pPr>
            <a:endParaRPr lang="en-US" sz="1722" dirty="0"/>
          </a:p>
        </p:txBody>
      </p:sp>
      <p:sp>
        <p:nvSpPr>
          <p:cNvPr id="13" name="Text 10"/>
          <p:cNvSpPr/>
          <p:nvPr/>
        </p:nvSpPr>
        <p:spPr>
          <a:xfrm>
            <a:off x="930652" y="2431018"/>
            <a:ext cx="144780" cy="328017"/>
          </a:xfrm>
          <a:prstGeom prst="rect">
            <a:avLst/>
          </a:prstGeom>
          <a:noFill/>
          <a:ln/>
        </p:spPr>
        <p:txBody>
          <a:bodyPr wrap="none" rtlCol="0" anchor="t"/>
          <a:lstStyle/>
          <a:p>
            <a:pPr marL="0" indent="0" algn="ctr">
              <a:lnSpc>
                <a:spcPts val="2582"/>
              </a:lnSpc>
              <a:buNone/>
            </a:pPr>
            <a:r>
              <a:rPr lang="en-US" sz="2066" dirty="0">
                <a:solidFill>
                  <a:srgbClr val="272525"/>
                </a:solidFill>
                <a:latin typeface="Gelasio" pitchFamily="34" charset="0"/>
                <a:ea typeface="Gelasio" pitchFamily="34" charset="-122"/>
              </a:rPr>
              <a:t>3</a:t>
            </a:r>
            <a:endParaRPr lang="en-US" sz="2066" dirty="0"/>
          </a:p>
        </p:txBody>
      </p:sp>
      <p:sp>
        <p:nvSpPr>
          <p:cNvPr id="16" name="Shape 13"/>
          <p:cNvSpPr/>
          <p:nvPr/>
        </p:nvSpPr>
        <p:spPr>
          <a:xfrm>
            <a:off x="1213548" y="2677910"/>
            <a:ext cx="612100" cy="34885"/>
          </a:xfrm>
          <a:prstGeom prst="rect">
            <a:avLst/>
          </a:prstGeom>
          <a:solidFill>
            <a:srgbClr val="D1D1C7"/>
          </a:solidFill>
          <a:ln/>
        </p:spPr>
      </p:sp>
      <p:sp>
        <p:nvSpPr>
          <p:cNvPr id="28" name="Text 25"/>
          <p:cNvSpPr/>
          <p:nvPr/>
        </p:nvSpPr>
        <p:spPr>
          <a:xfrm>
            <a:off x="919222" y="5771198"/>
            <a:ext cx="137160" cy="328017"/>
          </a:xfrm>
          <a:prstGeom prst="rect">
            <a:avLst/>
          </a:prstGeom>
          <a:noFill/>
          <a:ln/>
        </p:spPr>
        <p:txBody>
          <a:bodyPr wrap="none" rtlCol="0" anchor="t"/>
          <a:lstStyle/>
          <a:p>
            <a:pPr marL="0" indent="0" algn="ctr">
              <a:lnSpc>
                <a:spcPts val="2582"/>
              </a:lnSpc>
              <a:buNone/>
            </a:pPr>
            <a:endParaRPr lang="en-US" sz="2066" dirty="0"/>
          </a:p>
        </p:txBody>
      </p:sp>
      <p:sp>
        <p:nvSpPr>
          <p:cNvPr id="29" name="Text 26"/>
          <p:cNvSpPr/>
          <p:nvPr/>
        </p:nvSpPr>
        <p:spPr>
          <a:xfrm>
            <a:off x="1841605" y="2509482"/>
            <a:ext cx="2811780" cy="273248"/>
          </a:xfrm>
          <a:prstGeom prst="rect">
            <a:avLst/>
          </a:prstGeom>
          <a:noFill/>
          <a:ln/>
        </p:spPr>
        <p:txBody>
          <a:bodyPr wrap="none" rtlCol="0" anchor="t"/>
          <a:lstStyle/>
          <a:p>
            <a:pPr marL="0" indent="0" algn="l">
              <a:lnSpc>
                <a:spcPts val="2152"/>
              </a:lnSpc>
              <a:buNone/>
            </a:pPr>
            <a:r>
              <a:rPr lang="en-US" altLang="zh-CN" sz="2400" b="1" dirty="0"/>
              <a:t>Interpreting the principal components and feature importance</a:t>
            </a:r>
            <a:endParaRPr lang="en-US" sz="2400" b="1" dirty="0"/>
          </a:p>
        </p:txBody>
      </p:sp>
      <p:sp>
        <p:nvSpPr>
          <p:cNvPr id="30" name="Text 27"/>
          <p:cNvSpPr/>
          <p:nvPr/>
        </p:nvSpPr>
        <p:spPr>
          <a:xfrm>
            <a:off x="1949766" y="2942867"/>
            <a:ext cx="5748891" cy="839391"/>
          </a:xfrm>
          <a:prstGeom prst="rect">
            <a:avLst/>
          </a:prstGeom>
          <a:noFill/>
          <a:ln/>
        </p:spPr>
        <p:txBody>
          <a:bodyPr wrap="square" rtlCol="0" anchor="t"/>
          <a:lstStyle/>
          <a:p>
            <a:pPr marL="0" indent="0" algn="l">
              <a:lnSpc>
                <a:spcPts val="2204"/>
              </a:lnSpc>
              <a:buNone/>
            </a:pPr>
            <a:r>
              <a:rPr lang="en-US" altLang="zh-CN" sz="2000" b="0" i="0" dirty="0">
                <a:solidFill>
                  <a:srgbClr val="0F0F0F"/>
                </a:solidFill>
                <a:effectLst/>
              </a:rPr>
              <a:t>The program prints the explained variance ratio for each principal component and visualizes the feature loadings (importance of each feature) for each component in bar charts.</a:t>
            </a:r>
            <a:endParaRPr lang="en-US" sz="2000" dirty="0"/>
          </a:p>
        </p:txBody>
      </p:sp>
      <p:sp>
        <p:nvSpPr>
          <p:cNvPr id="33" name="Text 1">
            <a:extLst>
              <a:ext uri="{FF2B5EF4-FFF2-40B4-BE49-F238E27FC236}">
                <a16:creationId xmlns:a16="http://schemas.microsoft.com/office/drawing/2014/main" id="{CBA31B6D-4A8A-6E54-E4F4-681E659CC149}"/>
              </a:ext>
            </a:extLst>
          </p:cNvPr>
          <p:cNvSpPr/>
          <p:nvPr/>
        </p:nvSpPr>
        <p:spPr>
          <a:xfrm>
            <a:off x="552033" y="211573"/>
            <a:ext cx="7978140" cy="694373"/>
          </a:xfrm>
          <a:prstGeom prst="rect">
            <a:avLst/>
          </a:prstGeom>
          <a:noFill/>
          <a:ln/>
        </p:spPr>
        <p:txBody>
          <a:bodyPr wrap="none" rtlCol="0" anchor="t"/>
          <a:lstStyle/>
          <a:p>
            <a:pPr marL="0" indent="0">
              <a:lnSpc>
                <a:spcPts val="5468"/>
              </a:lnSpc>
              <a:buNone/>
            </a:pPr>
            <a:r>
              <a:rPr lang="en-US" altLang="zh-CN" sz="4400" b="1" dirty="0">
                <a:solidFill>
                  <a:srgbClr val="312F2B"/>
                </a:solidFill>
                <a:ea typeface="Gelasio" pitchFamily="34" charset="-122"/>
                <a:cs typeface="Gelasio" pitchFamily="34" charset="-120"/>
              </a:rPr>
              <a:t>Part two</a:t>
            </a:r>
            <a:r>
              <a:rPr lang="zh-CN" altLang="en-US" sz="4400" b="1" dirty="0">
                <a:solidFill>
                  <a:srgbClr val="312F2B"/>
                </a:solidFill>
                <a:ea typeface="Gelasio" pitchFamily="34" charset="-122"/>
                <a:cs typeface="Gelasio" pitchFamily="34" charset="-120"/>
              </a:rPr>
              <a:t>：</a:t>
            </a:r>
            <a:endParaRPr lang="en-US" altLang="zh-CN" sz="4400" b="1" dirty="0">
              <a:solidFill>
                <a:srgbClr val="312F2B"/>
              </a:solidFill>
              <a:ea typeface="Gelasio" pitchFamily="34" charset="-122"/>
              <a:cs typeface="Gelasio" pitchFamily="34" charset="-120"/>
            </a:endParaRPr>
          </a:p>
          <a:p>
            <a:pPr marL="0" indent="0">
              <a:lnSpc>
                <a:spcPts val="5468"/>
              </a:lnSpc>
              <a:buNone/>
            </a:pPr>
            <a:r>
              <a:rPr lang="en-US" altLang="zh-CN" sz="4400" b="1" dirty="0"/>
              <a:t>Steps taken during the PCA analysis and interpreting results</a:t>
            </a:r>
          </a:p>
        </p:txBody>
      </p:sp>
      <p:pic>
        <p:nvPicPr>
          <p:cNvPr id="4" name="图片 3">
            <a:extLst>
              <a:ext uri="{FF2B5EF4-FFF2-40B4-BE49-F238E27FC236}">
                <a16:creationId xmlns:a16="http://schemas.microsoft.com/office/drawing/2014/main" id="{059FDC8C-3FE4-2A1C-DFB0-0D7E5BD4C5E7}"/>
              </a:ext>
            </a:extLst>
          </p:cNvPr>
          <p:cNvPicPr>
            <a:picLocks noChangeAspect="1"/>
          </p:cNvPicPr>
          <p:nvPr/>
        </p:nvPicPr>
        <p:blipFill>
          <a:blip r:embed="rId4"/>
          <a:stretch>
            <a:fillRect/>
          </a:stretch>
        </p:blipFill>
        <p:spPr>
          <a:xfrm>
            <a:off x="0" y="4572267"/>
            <a:ext cx="6931744" cy="3655547"/>
          </a:xfrm>
          <a:prstGeom prst="rect">
            <a:avLst/>
          </a:prstGeom>
        </p:spPr>
      </p:pic>
      <p:pic>
        <p:nvPicPr>
          <p:cNvPr id="6" name="图片 5">
            <a:extLst>
              <a:ext uri="{FF2B5EF4-FFF2-40B4-BE49-F238E27FC236}">
                <a16:creationId xmlns:a16="http://schemas.microsoft.com/office/drawing/2014/main" id="{B8913D01-85F1-41FC-9B07-75AC83B1408D}"/>
              </a:ext>
            </a:extLst>
          </p:cNvPr>
          <p:cNvPicPr>
            <a:picLocks noChangeAspect="1"/>
          </p:cNvPicPr>
          <p:nvPr/>
        </p:nvPicPr>
        <p:blipFill>
          <a:blip r:embed="rId5"/>
          <a:stretch>
            <a:fillRect/>
          </a:stretch>
        </p:blipFill>
        <p:spPr>
          <a:xfrm>
            <a:off x="8338922" y="4063182"/>
            <a:ext cx="6291478" cy="4164634"/>
          </a:xfrm>
          <a:prstGeom prst="rect">
            <a:avLst/>
          </a:prstGeom>
        </p:spPr>
      </p:pic>
      <p:sp>
        <p:nvSpPr>
          <p:cNvPr id="10" name="箭头: 右 9">
            <a:extLst>
              <a:ext uri="{FF2B5EF4-FFF2-40B4-BE49-F238E27FC236}">
                <a16:creationId xmlns:a16="http://schemas.microsoft.com/office/drawing/2014/main" id="{5FD569E2-A42B-2025-4679-FB2E3378A9F6}"/>
              </a:ext>
            </a:extLst>
          </p:cNvPr>
          <p:cNvSpPr/>
          <p:nvPr/>
        </p:nvSpPr>
        <p:spPr>
          <a:xfrm>
            <a:off x="6931744" y="6145499"/>
            <a:ext cx="1407178" cy="2942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51889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785"/>
            <a:ext cx="14630400" cy="8229600"/>
          </a:xfrm>
          <a:prstGeom prst="rect">
            <a:avLst/>
          </a:prstGeom>
          <a:solidFill>
            <a:srgbClr val="FFFFFF">
              <a:alpha val="75000"/>
            </a:srgbClr>
          </a:solidFill>
          <a:ln w="10835">
            <a:solidFill>
              <a:srgbClr val="FFFFFF">
                <a:alpha val="64000"/>
              </a:srgbClr>
            </a:solidFill>
            <a:prstDash val="solid"/>
          </a:ln>
        </p:spPr>
        <p:txBody>
          <a:bodyPr/>
          <a:lstStyle/>
          <a:p>
            <a:endParaRPr lang="zh-CN" altLang="en-US" dirty="0"/>
          </a:p>
        </p:txBody>
      </p:sp>
      <p:sp>
        <p:nvSpPr>
          <p:cNvPr id="5" name="Shape 2"/>
          <p:cNvSpPr/>
          <p:nvPr/>
        </p:nvSpPr>
        <p:spPr>
          <a:xfrm>
            <a:off x="984887" y="1858327"/>
            <a:ext cx="34885" cy="6371273"/>
          </a:xfrm>
          <a:prstGeom prst="rect">
            <a:avLst/>
          </a:prstGeom>
          <a:solidFill>
            <a:srgbClr val="D1D1C7"/>
          </a:solidFill>
          <a:ln/>
        </p:spPr>
      </p:sp>
      <p:sp>
        <p:nvSpPr>
          <p:cNvPr id="7" name="Shape 4"/>
          <p:cNvSpPr/>
          <p:nvPr/>
        </p:nvSpPr>
        <p:spPr>
          <a:xfrm>
            <a:off x="805578" y="2473302"/>
            <a:ext cx="393502" cy="393502"/>
          </a:xfrm>
          <a:prstGeom prst="roundRect">
            <a:avLst>
              <a:gd name="adj" fmla="val 20002"/>
            </a:avLst>
          </a:prstGeom>
          <a:solidFill>
            <a:srgbClr val="E8E8E3"/>
          </a:solidFill>
          <a:ln w="10835">
            <a:solidFill>
              <a:srgbClr val="D1D1C7"/>
            </a:solidFill>
            <a:prstDash val="solid"/>
          </a:ln>
        </p:spPr>
      </p:sp>
      <p:sp>
        <p:nvSpPr>
          <p:cNvPr id="8" name="Text 5"/>
          <p:cNvSpPr/>
          <p:nvPr/>
        </p:nvSpPr>
        <p:spPr>
          <a:xfrm>
            <a:off x="930652" y="1313855"/>
            <a:ext cx="114300" cy="328017"/>
          </a:xfrm>
          <a:prstGeom prst="rect">
            <a:avLst/>
          </a:prstGeom>
          <a:noFill/>
          <a:ln/>
        </p:spPr>
        <p:txBody>
          <a:bodyPr wrap="none" rtlCol="0" anchor="t"/>
          <a:lstStyle/>
          <a:p>
            <a:pPr marL="0" indent="0" algn="ctr">
              <a:lnSpc>
                <a:spcPts val="2582"/>
              </a:lnSpc>
              <a:buNone/>
            </a:pPr>
            <a:endParaRPr lang="en-US" sz="2066" dirty="0"/>
          </a:p>
        </p:txBody>
      </p:sp>
      <p:sp>
        <p:nvSpPr>
          <p:cNvPr id="9" name="Text 6"/>
          <p:cNvSpPr/>
          <p:nvPr/>
        </p:nvSpPr>
        <p:spPr>
          <a:xfrm>
            <a:off x="1949768" y="1319451"/>
            <a:ext cx="2286000" cy="273248"/>
          </a:xfrm>
          <a:prstGeom prst="rect">
            <a:avLst/>
          </a:prstGeom>
          <a:noFill/>
          <a:ln/>
        </p:spPr>
        <p:txBody>
          <a:bodyPr wrap="none" rtlCol="0" anchor="t"/>
          <a:lstStyle/>
          <a:p>
            <a:pPr marL="0" indent="0" algn="l">
              <a:lnSpc>
                <a:spcPts val="2152"/>
              </a:lnSpc>
              <a:buNone/>
            </a:pPr>
            <a:endParaRPr lang="en-US" sz="1722" dirty="0"/>
          </a:p>
        </p:txBody>
      </p:sp>
      <p:sp>
        <p:nvSpPr>
          <p:cNvPr id="13" name="Text 10"/>
          <p:cNvSpPr/>
          <p:nvPr/>
        </p:nvSpPr>
        <p:spPr>
          <a:xfrm>
            <a:off x="930652" y="2431018"/>
            <a:ext cx="144780" cy="328017"/>
          </a:xfrm>
          <a:prstGeom prst="rect">
            <a:avLst/>
          </a:prstGeom>
          <a:noFill/>
          <a:ln/>
        </p:spPr>
        <p:txBody>
          <a:bodyPr wrap="none" rtlCol="0" anchor="t"/>
          <a:lstStyle/>
          <a:p>
            <a:pPr marL="0" indent="0" algn="ctr">
              <a:lnSpc>
                <a:spcPts val="2582"/>
              </a:lnSpc>
              <a:buNone/>
            </a:pPr>
            <a:r>
              <a:rPr lang="en-US" sz="2066" dirty="0">
                <a:solidFill>
                  <a:srgbClr val="272525"/>
                </a:solidFill>
                <a:latin typeface="Gelasio" pitchFamily="34" charset="0"/>
                <a:ea typeface="Gelasio" pitchFamily="34" charset="-122"/>
              </a:rPr>
              <a:t>4</a:t>
            </a:r>
            <a:endParaRPr lang="en-US" sz="2066" dirty="0"/>
          </a:p>
        </p:txBody>
      </p:sp>
      <p:sp>
        <p:nvSpPr>
          <p:cNvPr id="16" name="Shape 13"/>
          <p:cNvSpPr/>
          <p:nvPr/>
        </p:nvSpPr>
        <p:spPr>
          <a:xfrm>
            <a:off x="1213548" y="2677910"/>
            <a:ext cx="612100" cy="34885"/>
          </a:xfrm>
          <a:prstGeom prst="rect">
            <a:avLst/>
          </a:prstGeom>
          <a:solidFill>
            <a:srgbClr val="D1D1C7"/>
          </a:solidFill>
          <a:ln/>
        </p:spPr>
      </p:sp>
      <p:sp>
        <p:nvSpPr>
          <p:cNvPr id="28" name="Text 25"/>
          <p:cNvSpPr/>
          <p:nvPr/>
        </p:nvSpPr>
        <p:spPr>
          <a:xfrm>
            <a:off x="919222" y="5771198"/>
            <a:ext cx="137160" cy="328017"/>
          </a:xfrm>
          <a:prstGeom prst="rect">
            <a:avLst/>
          </a:prstGeom>
          <a:noFill/>
          <a:ln/>
        </p:spPr>
        <p:txBody>
          <a:bodyPr wrap="none" rtlCol="0" anchor="t"/>
          <a:lstStyle/>
          <a:p>
            <a:pPr marL="0" indent="0" algn="ctr">
              <a:lnSpc>
                <a:spcPts val="2582"/>
              </a:lnSpc>
              <a:buNone/>
            </a:pPr>
            <a:endParaRPr lang="en-US" sz="2066" dirty="0"/>
          </a:p>
        </p:txBody>
      </p:sp>
      <p:sp>
        <p:nvSpPr>
          <p:cNvPr id="29" name="Text 26"/>
          <p:cNvSpPr/>
          <p:nvPr/>
        </p:nvSpPr>
        <p:spPr>
          <a:xfrm>
            <a:off x="1841605" y="2509482"/>
            <a:ext cx="2811780" cy="273248"/>
          </a:xfrm>
          <a:prstGeom prst="rect">
            <a:avLst/>
          </a:prstGeom>
          <a:noFill/>
          <a:ln/>
        </p:spPr>
        <p:txBody>
          <a:bodyPr wrap="none" rtlCol="0" anchor="t"/>
          <a:lstStyle/>
          <a:p>
            <a:pPr marL="0" indent="0" algn="l">
              <a:lnSpc>
                <a:spcPts val="2152"/>
              </a:lnSpc>
              <a:buNone/>
            </a:pPr>
            <a:r>
              <a:rPr lang="en-US" altLang="zh-CN" sz="2400" b="1" dirty="0"/>
              <a:t>Plotting selected principal components</a:t>
            </a:r>
            <a:endParaRPr lang="en-US" sz="2400" b="1" dirty="0"/>
          </a:p>
        </p:txBody>
      </p:sp>
      <p:sp>
        <p:nvSpPr>
          <p:cNvPr id="30" name="Text 27"/>
          <p:cNvSpPr/>
          <p:nvPr/>
        </p:nvSpPr>
        <p:spPr>
          <a:xfrm>
            <a:off x="1949766" y="2942867"/>
            <a:ext cx="5129459" cy="1341539"/>
          </a:xfrm>
          <a:prstGeom prst="rect">
            <a:avLst/>
          </a:prstGeom>
          <a:noFill/>
          <a:ln/>
        </p:spPr>
        <p:txBody>
          <a:bodyPr wrap="square" rtlCol="0" anchor="t"/>
          <a:lstStyle/>
          <a:p>
            <a:pPr marL="0" indent="0" algn="l">
              <a:lnSpc>
                <a:spcPts val="2204"/>
              </a:lnSpc>
              <a:buNone/>
            </a:pPr>
            <a:r>
              <a:rPr lang="en-US" altLang="zh-CN" sz="2000" b="0" i="0" dirty="0">
                <a:solidFill>
                  <a:srgbClr val="0F0F0F"/>
                </a:solidFill>
                <a:effectLst/>
              </a:rPr>
              <a:t>It generates visualizations, including the cumulative explained variance curve, bar charts showing feature loadings, and two scatter plots of pairs of principal components.</a:t>
            </a:r>
            <a:endParaRPr lang="en-US" sz="2000" dirty="0"/>
          </a:p>
        </p:txBody>
      </p:sp>
      <p:pic>
        <p:nvPicPr>
          <p:cNvPr id="31"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
        <p:nvSpPr>
          <p:cNvPr id="33" name="Text 1">
            <a:extLst>
              <a:ext uri="{FF2B5EF4-FFF2-40B4-BE49-F238E27FC236}">
                <a16:creationId xmlns:a16="http://schemas.microsoft.com/office/drawing/2014/main" id="{CBA31B6D-4A8A-6E54-E4F4-681E659CC149}"/>
              </a:ext>
            </a:extLst>
          </p:cNvPr>
          <p:cNvSpPr/>
          <p:nvPr/>
        </p:nvSpPr>
        <p:spPr>
          <a:xfrm>
            <a:off x="552033" y="211573"/>
            <a:ext cx="7978140" cy="694373"/>
          </a:xfrm>
          <a:prstGeom prst="rect">
            <a:avLst/>
          </a:prstGeom>
          <a:noFill/>
          <a:ln/>
        </p:spPr>
        <p:txBody>
          <a:bodyPr wrap="none" rtlCol="0" anchor="t"/>
          <a:lstStyle/>
          <a:p>
            <a:pPr marL="0" indent="0">
              <a:lnSpc>
                <a:spcPts val="5468"/>
              </a:lnSpc>
              <a:buNone/>
            </a:pPr>
            <a:r>
              <a:rPr lang="en-US" altLang="zh-CN" sz="4400" b="1" dirty="0">
                <a:solidFill>
                  <a:srgbClr val="312F2B"/>
                </a:solidFill>
                <a:ea typeface="Gelasio" pitchFamily="34" charset="-122"/>
                <a:cs typeface="Gelasio" pitchFamily="34" charset="-120"/>
              </a:rPr>
              <a:t>Part two</a:t>
            </a:r>
            <a:r>
              <a:rPr lang="zh-CN" altLang="en-US" sz="4400" b="1" dirty="0">
                <a:solidFill>
                  <a:srgbClr val="312F2B"/>
                </a:solidFill>
                <a:ea typeface="Gelasio" pitchFamily="34" charset="-122"/>
                <a:cs typeface="Gelasio" pitchFamily="34" charset="-120"/>
              </a:rPr>
              <a:t>：</a:t>
            </a:r>
            <a:endParaRPr lang="en-US" altLang="zh-CN" sz="4400" b="1" dirty="0">
              <a:solidFill>
                <a:srgbClr val="312F2B"/>
              </a:solidFill>
              <a:ea typeface="Gelasio" pitchFamily="34" charset="-122"/>
              <a:cs typeface="Gelasio" pitchFamily="34" charset="-120"/>
            </a:endParaRPr>
          </a:p>
          <a:p>
            <a:pPr marL="0" indent="0">
              <a:lnSpc>
                <a:spcPts val="5468"/>
              </a:lnSpc>
              <a:buNone/>
            </a:pPr>
            <a:r>
              <a:rPr lang="en-US" altLang="zh-CN" sz="4400" b="1" dirty="0"/>
              <a:t>Steps taken during the PCA analysis and interpreting results</a:t>
            </a:r>
          </a:p>
        </p:txBody>
      </p:sp>
      <p:sp>
        <p:nvSpPr>
          <p:cNvPr id="38" name="Text 10">
            <a:extLst>
              <a:ext uri="{FF2B5EF4-FFF2-40B4-BE49-F238E27FC236}">
                <a16:creationId xmlns:a16="http://schemas.microsoft.com/office/drawing/2014/main" id="{6B31D3F7-2D00-2F64-F965-23BB070E4A34}"/>
              </a:ext>
            </a:extLst>
          </p:cNvPr>
          <p:cNvSpPr/>
          <p:nvPr/>
        </p:nvSpPr>
        <p:spPr>
          <a:xfrm>
            <a:off x="922906" y="5877067"/>
            <a:ext cx="144780" cy="328017"/>
          </a:xfrm>
          <a:prstGeom prst="rect">
            <a:avLst/>
          </a:prstGeom>
          <a:noFill/>
          <a:ln/>
        </p:spPr>
        <p:txBody>
          <a:bodyPr wrap="none" rtlCol="0" anchor="t"/>
          <a:lstStyle/>
          <a:p>
            <a:pPr marL="0" indent="0" algn="ctr">
              <a:lnSpc>
                <a:spcPts val="2582"/>
              </a:lnSpc>
              <a:buNone/>
            </a:pPr>
            <a:endParaRPr lang="en-US" sz="2066" dirty="0"/>
          </a:p>
        </p:txBody>
      </p:sp>
      <p:pic>
        <p:nvPicPr>
          <p:cNvPr id="4" name="图片 3">
            <a:extLst>
              <a:ext uri="{FF2B5EF4-FFF2-40B4-BE49-F238E27FC236}">
                <a16:creationId xmlns:a16="http://schemas.microsoft.com/office/drawing/2014/main" id="{C6D980D4-A1D5-0E4C-22CD-25CFA8BE9CCA}"/>
              </a:ext>
            </a:extLst>
          </p:cNvPr>
          <p:cNvPicPr>
            <a:picLocks noChangeAspect="1"/>
          </p:cNvPicPr>
          <p:nvPr/>
        </p:nvPicPr>
        <p:blipFill>
          <a:blip r:embed="rId6"/>
          <a:stretch>
            <a:fillRect/>
          </a:stretch>
        </p:blipFill>
        <p:spPr>
          <a:xfrm>
            <a:off x="8188884" y="1710982"/>
            <a:ext cx="6441516" cy="2239985"/>
          </a:xfrm>
          <a:prstGeom prst="rect">
            <a:avLst/>
          </a:prstGeom>
        </p:spPr>
      </p:pic>
      <p:pic>
        <p:nvPicPr>
          <p:cNvPr id="6" name="图片 5">
            <a:extLst>
              <a:ext uri="{FF2B5EF4-FFF2-40B4-BE49-F238E27FC236}">
                <a16:creationId xmlns:a16="http://schemas.microsoft.com/office/drawing/2014/main" id="{4C3C92D3-7A81-BF88-F5F0-602500ADD52C}"/>
              </a:ext>
            </a:extLst>
          </p:cNvPr>
          <p:cNvPicPr>
            <a:picLocks noChangeAspect="1"/>
          </p:cNvPicPr>
          <p:nvPr/>
        </p:nvPicPr>
        <p:blipFill>
          <a:blip r:embed="rId7"/>
          <a:stretch>
            <a:fillRect/>
          </a:stretch>
        </p:blipFill>
        <p:spPr>
          <a:xfrm>
            <a:off x="9925665" y="4608433"/>
            <a:ext cx="4704735" cy="3559753"/>
          </a:xfrm>
          <a:prstGeom prst="rect">
            <a:avLst/>
          </a:prstGeom>
        </p:spPr>
      </p:pic>
      <p:sp>
        <p:nvSpPr>
          <p:cNvPr id="10" name="箭头: 右 9">
            <a:extLst>
              <a:ext uri="{FF2B5EF4-FFF2-40B4-BE49-F238E27FC236}">
                <a16:creationId xmlns:a16="http://schemas.microsoft.com/office/drawing/2014/main" id="{88C90CB2-5E53-E7D8-C77E-C73ED5B1AA98}"/>
              </a:ext>
            </a:extLst>
          </p:cNvPr>
          <p:cNvSpPr/>
          <p:nvPr/>
        </p:nvSpPr>
        <p:spPr>
          <a:xfrm rot="5400000">
            <a:off x="11556101" y="4125544"/>
            <a:ext cx="755080" cy="5058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1" name="图片 10">
            <a:extLst>
              <a:ext uri="{FF2B5EF4-FFF2-40B4-BE49-F238E27FC236}">
                <a16:creationId xmlns:a16="http://schemas.microsoft.com/office/drawing/2014/main" id="{81AF9D53-7CE7-A1E4-9D2F-23D4B565A576}"/>
              </a:ext>
            </a:extLst>
          </p:cNvPr>
          <p:cNvPicPr>
            <a:picLocks noChangeAspect="1"/>
          </p:cNvPicPr>
          <p:nvPr/>
        </p:nvPicPr>
        <p:blipFill>
          <a:blip r:embed="rId8"/>
          <a:stretch>
            <a:fillRect/>
          </a:stretch>
        </p:blipFill>
        <p:spPr>
          <a:xfrm>
            <a:off x="23030" y="5094194"/>
            <a:ext cx="5000897" cy="1981487"/>
          </a:xfrm>
          <a:prstGeom prst="rect">
            <a:avLst/>
          </a:prstGeom>
        </p:spPr>
      </p:pic>
      <p:pic>
        <p:nvPicPr>
          <p:cNvPr id="12" name="图片 11">
            <a:extLst>
              <a:ext uri="{FF2B5EF4-FFF2-40B4-BE49-F238E27FC236}">
                <a16:creationId xmlns:a16="http://schemas.microsoft.com/office/drawing/2014/main" id="{D618E0CD-8A58-CD7E-200E-209AE04C5B5C}"/>
              </a:ext>
            </a:extLst>
          </p:cNvPr>
          <p:cNvPicPr>
            <a:picLocks noChangeAspect="1"/>
          </p:cNvPicPr>
          <p:nvPr/>
        </p:nvPicPr>
        <p:blipFill>
          <a:blip r:embed="rId9"/>
          <a:stretch>
            <a:fillRect/>
          </a:stretch>
        </p:blipFill>
        <p:spPr>
          <a:xfrm>
            <a:off x="5956358" y="6180615"/>
            <a:ext cx="2444337" cy="1867786"/>
          </a:xfrm>
          <a:prstGeom prst="rect">
            <a:avLst/>
          </a:prstGeom>
        </p:spPr>
      </p:pic>
      <p:pic>
        <p:nvPicPr>
          <p:cNvPr id="14" name="图片 13">
            <a:extLst>
              <a:ext uri="{FF2B5EF4-FFF2-40B4-BE49-F238E27FC236}">
                <a16:creationId xmlns:a16="http://schemas.microsoft.com/office/drawing/2014/main" id="{BF3E901A-1A16-079A-A398-6F3DAB19506E}"/>
              </a:ext>
            </a:extLst>
          </p:cNvPr>
          <p:cNvPicPr>
            <a:picLocks noChangeAspect="1"/>
          </p:cNvPicPr>
          <p:nvPr/>
        </p:nvPicPr>
        <p:blipFill>
          <a:blip r:embed="rId10"/>
          <a:stretch>
            <a:fillRect/>
          </a:stretch>
        </p:blipFill>
        <p:spPr>
          <a:xfrm>
            <a:off x="5926880" y="4033482"/>
            <a:ext cx="2473815" cy="2051456"/>
          </a:xfrm>
          <a:prstGeom prst="rect">
            <a:avLst/>
          </a:prstGeom>
        </p:spPr>
      </p:pic>
      <p:sp>
        <p:nvSpPr>
          <p:cNvPr id="15" name="箭头: 右 14">
            <a:extLst>
              <a:ext uri="{FF2B5EF4-FFF2-40B4-BE49-F238E27FC236}">
                <a16:creationId xmlns:a16="http://schemas.microsoft.com/office/drawing/2014/main" id="{5F5ECF8B-6E95-1D14-783C-08D3D2DFDD6D}"/>
              </a:ext>
            </a:extLst>
          </p:cNvPr>
          <p:cNvSpPr/>
          <p:nvPr/>
        </p:nvSpPr>
        <p:spPr>
          <a:xfrm>
            <a:off x="4996617" y="5881988"/>
            <a:ext cx="858493" cy="40888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000168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0E69B78-19C7-6D00-D79E-98E7CCD76D42}"/>
              </a:ext>
            </a:extLst>
          </p:cNvPr>
          <p:cNvPicPr>
            <a:picLocks noChangeAspect="1"/>
          </p:cNvPicPr>
          <p:nvPr/>
        </p:nvPicPr>
        <p:blipFill>
          <a:blip r:embed="rId2"/>
          <a:stretch>
            <a:fillRect/>
          </a:stretch>
        </p:blipFill>
        <p:spPr>
          <a:xfrm>
            <a:off x="0" y="0"/>
            <a:ext cx="14630400" cy="8229600"/>
          </a:xfrm>
          <a:prstGeom prst="rect">
            <a:avLst/>
          </a:prstGeom>
        </p:spPr>
      </p:pic>
      <p:sp>
        <p:nvSpPr>
          <p:cNvPr id="3" name="Shape 0">
            <a:extLst>
              <a:ext uri="{FF2B5EF4-FFF2-40B4-BE49-F238E27FC236}">
                <a16:creationId xmlns:a16="http://schemas.microsoft.com/office/drawing/2014/main" id="{D98F735D-8B9A-9FD4-5FA0-315B2D59D94A}"/>
              </a:ext>
            </a:extLst>
          </p:cNvPr>
          <p:cNvSpPr/>
          <p:nvPr/>
        </p:nvSpPr>
        <p:spPr>
          <a:xfrm>
            <a:off x="0" y="-1785"/>
            <a:ext cx="14630400" cy="8229600"/>
          </a:xfrm>
          <a:prstGeom prst="rect">
            <a:avLst/>
          </a:prstGeom>
          <a:solidFill>
            <a:srgbClr val="FFFFFF">
              <a:alpha val="75000"/>
            </a:srgbClr>
          </a:solidFill>
          <a:ln w="10835">
            <a:solidFill>
              <a:srgbClr val="FFFFFF">
                <a:alpha val="64000"/>
              </a:srgbClr>
            </a:solidFill>
            <a:prstDash val="solid"/>
          </a:ln>
        </p:spPr>
      </p:sp>
      <p:sp>
        <p:nvSpPr>
          <p:cNvPr id="4" name="Shape 2">
            <a:extLst>
              <a:ext uri="{FF2B5EF4-FFF2-40B4-BE49-F238E27FC236}">
                <a16:creationId xmlns:a16="http://schemas.microsoft.com/office/drawing/2014/main" id="{773EF8E3-95D4-D224-3A3B-66F22CC7935D}"/>
              </a:ext>
            </a:extLst>
          </p:cNvPr>
          <p:cNvSpPr/>
          <p:nvPr/>
        </p:nvSpPr>
        <p:spPr>
          <a:xfrm>
            <a:off x="984887" y="1858327"/>
            <a:ext cx="34885" cy="6371273"/>
          </a:xfrm>
          <a:prstGeom prst="rect">
            <a:avLst/>
          </a:prstGeom>
          <a:solidFill>
            <a:srgbClr val="D1D1C7"/>
          </a:solidFill>
          <a:ln/>
        </p:spPr>
      </p:sp>
      <p:sp>
        <p:nvSpPr>
          <p:cNvPr id="5" name="Shape 4">
            <a:extLst>
              <a:ext uri="{FF2B5EF4-FFF2-40B4-BE49-F238E27FC236}">
                <a16:creationId xmlns:a16="http://schemas.microsoft.com/office/drawing/2014/main" id="{F6FFD7E5-4FAE-A84E-25EC-8792D7BB9385}"/>
              </a:ext>
            </a:extLst>
          </p:cNvPr>
          <p:cNvSpPr/>
          <p:nvPr/>
        </p:nvSpPr>
        <p:spPr>
          <a:xfrm>
            <a:off x="805578" y="2473302"/>
            <a:ext cx="393502" cy="393502"/>
          </a:xfrm>
          <a:prstGeom prst="roundRect">
            <a:avLst>
              <a:gd name="adj" fmla="val 20002"/>
            </a:avLst>
          </a:prstGeom>
          <a:solidFill>
            <a:srgbClr val="E8E8E3"/>
          </a:solidFill>
          <a:ln w="10835">
            <a:solidFill>
              <a:srgbClr val="D1D1C7"/>
            </a:solidFill>
            <a:prstDash val="solid"/>
          </a:ln>
        </p:spPr>
      </p:sp>
      <p:sp>
        <p:nvSpPr>
          <p:cNvPr id="6" name="Text 5">
            <a:extLst>
              <a:ext uri="{FF2B5EF4-FFF2-40B4-BE49-F238E27FC236}">
                <a16:creationId xmlns:a16="http://schemas.microsoft.com/office/drawing/2014/main" id="{0B5A40FD-713C-9FC4-3D1F-92DEB57A918A}"/>
              </a:ext>
            </a:extLst>
          </p:cNvPr>
          <p:cNvSpPr/>
          <p:nvPr/>
        </p:nvSpPr>
        <p:spPr>
          <a:xfrm>
            <a:off x="930652" y="1313855"/>
            <a:ext cx="114300" cy="328017"/>
          </a:xfrm>
          <a:prstGeom prst="rect">
            <a:avLst/>
          </a:prstGeom>
          <a:noFill/>
          <a:ln/>
        </p:spPr>
        <p:txBody>
          <a:bodyPr wrap="none" rtlCol="0" anchor="t"/>
          <a:lstStyle/>
          <a:p>
            <a:pPr marL="0" indent="0" algn="ctr">
              <a:lnSpc>
                <a:spcPts val="2582"/>
              </a:lnSpc>
              <a:buNone/>
            </a:pPr>
            <a:endParaRPr lang="en-US" sz="2066" dirty="0"/>
          </a:p>
        </p:txBody>
      </p:sp>
      <p:sp>
        <p:nvSpPr>
          <p:cNvPr id="7" name="Text 6">
            <a:extLst>
              <a:ext uri="{FF2B5EF4-FFF2-40B4-BE49-F238E27FC236}">
                <a16:creationId xmlns:a16="http://schemas.microsoft.com/office/drawing/2014/main" id="{70A72522-0AD5-6FE6-CCA3-1794D682580C}"/>
              </a:ext>
            </a:extLst>
          </p:cNvPr>
          <p:cNvSpPr/>
          <p:nvPr/>
        </p:nvSpPr>
        <p:spPr>
          <a:xfrm>
            <a:off x="1949768" y="1319451"/>
            <a:ext cx="2286000" cy="273248"/>
          </a:xfrm>
          <a:prstGeom prst="rect">
            <a:avLst/>
          </a:prstGeom>
          <a:noFill/>
          <a:ln/>
        </p:spPr>
        <p:txBody>
          <a:bodyPr wrap="none" rtlCol="0" anchor="t"/>
          <a:lstStyle/>
          <a:p>
            <a:pPr marL="0" indent="0" algn="l">
              <a:lnSpc>
                <a:spcPts val="2152"/>
              </a:lnSpc>
              <a:buNone/>
            </a:pPr>
            <a:endParaRPr lang="en-US" sz="1722" dirty="0"/>
          </a:p>
        </p:txBody>
      </p:sp>
      <p:sp>
        <p:nvSpPr>
          <p:cNvPr id="8" name="Text 10">
            <a:extLst>
              <a:ext uri="{FF2B5EF4-FFF2-40B4-BE49-F238E27FC236}">
                <a16:creationId xmlns:a16="http://schemas.microsoft.com/office/drawing/2014/main" id="{86C234FB-991B-33B5-C3D9-17B9D4EC3811}"/>
              </a:ext>
            </a:extLst>
          </p:cNvPr>
          <p:cNvSpPr/>
          <p:nvPr/>
        </p:nvSpPr>
        <p:spPr>
          <a:xfrm>
            <a:off x="930652" y="2431018"/>
            <a:ext cx="144780" cy="328017"/>
          </a:xfrm>
          <a:prstGeom prst="rect">
            <a:avLst/>
          </a:prstGeom>
          <a:noFill/>
          <a:ln/>
        </p:spPr>
        <p:txBody>
          <a:bodyPr wrap="none" rtlCol="0" anchor="t"/>
          <a:lstStyle/>
          <a:p>
            <a:pPr marL="0" indent="0" algn="ctr">
              <a:lnSpc>
                <a:spcPts val="2582"/>
              </a:lnSpc>
              <a:buNone/>
            </a:pPr>
            <a:r>
              <a:rPr lang="en-US" sz="2066" dirty="0">
                <a:solidFill>
                  <a:srgbClr val="272525"/>
                </a:solidFill>
                <a:latin typeface="Gelasio" pitchFamily="34" charset="0"/>
                <a:ea typeface="Gelasio" pitchFamily="34" charset="-122"/>
                <a:cs typeface="Gelasio" pitchFamily="34" charset="-120"/>
              </a:rPr>
              <a:t>1</a:t>
            </a:r>
            <a:endParaRPr lang="en-US" sz="2066" dirty="0"/>
          </a:p>
        </p:txBody>
      </p:sp>
      <p:sp>
        <p:nvSpPr>
          <p:cNvPr id="9" name="Shape 13">
            <a:extLst>
              <a:ext uri="{FF2B5EF4-FFF2-40B4-BE49-F238E27FC236}">
                <a16:creationId xmlns:a16="http://schemas.microsoft.com/office/drawing/2014/main" id="{14D62797-C676-B448-7D6C-3BC82F313A16}"/>
              </a:ext>
            </a:extLst>
          </p:cNvPr>
          <p:cNvSpPr/>
          <p:nvPr/>
        </p:nvSpPr>
        <p:spPr>
          <a:xfrm>
            <a:off x="1213548" y="2677910"/>
            <a:ext cx="612100" cy="34885"/>
          </a:xfrm>
          <a:prstGeom prst="rect">
            <a:avLst/>
          </a:prstGeom>
          <a:solidFill>
            <a:srgbClr val="D1D1C7"/>
          </a:solidFill>
          <a:ln/>
        </p:spPr>
      </p:sp>
      <p:sp>
        <p:nvSpPr>
          <p:cNvPr id="10" name="Shape 14">
            <a:extLst>
              <a:ext uri="{FF2B5EF4-FFF2-40B4-BE49-F238E27FC236}">
                <a16:creationId xmlns:a16="http://schemas.microsoft.com/office/drawing/2014/main" id="{23DF613C-1E25-3B86-BC83-0FDF859A452D}"/>
              </a:ext>
            </a:extLst>
          </p:cNvPr>
          <p:cNvSpPr/>
          <p:nvPr/>
        </p:nvSpPr>
        <p:spPr>
          <a:xfrm>
            <a:off x="791111" y="5878852"/>
            <a:ext cx="393502" cy="393502"/>
          </a:xfrm>
          <a:prstGeom prst="roundRect">
            <a:avLst>
              <a:gd name="adj" fmla="val 20002"/>
            </a:avLst>
          </a:prstGeom>
          <a:solidFill>
            <a:srgbClr val="E8E8E3"/>
          </a:solidFill>
          <a:ln w="10835">
            <a:solidFill>
              <a:srgbClr val="D1D1C7"/>
            </a:solidFill>
            <a:prstDash val="solid"/>
          </a:ln>
        </p:spPr>
      </p:sp>
      <p:sp>
        <p:nvSpPr>
          <p:cNvPr id="11" name="Text 25">
            <a:extLst>
              <a:ext uri="{FF2B5EF4-FFF2-40B4-BE49-F238E27FC236}">
                <a16:creationId xmlns:a16="http://schemas.microsoft.com/office/drawing/2014/main" id="{6713B04F-D851-8E29-49D3-902806A4700F}"/>
              </a:ext>
            </a:extLst>
          </p:cNvPr>
          <p:cNvSpPr/>
          <p:nvPr/>
        </p:nvSpPr>
        <p:spPr>
          <a:xfrm>
            <a:off x="919222" y="5771198"/>
            <a:ext cx="137160" cy="328017"/>
          </a:xfrm>
          <a:prstGeom prst="rect">
            <a:avLst/>
          </a:prstGeom>
          <a:noFill/>
          <a:ln/>
        </p:spPr>
        <p:txBody>
          <a:bodyPr wrap="none" rtlCol="0" anchor="t"/>
          <a:lstStyle/>
          <a:p>
            <a:pPr marL="0" indent="0" algn="ctr">
              <a:lnSpc>
                <a:spcPts val="2582"/>
              </a:lnSpc>
              <a:buNone/>
            </a:pPr>
            <a:endParaRPr lang="en-US" sz="2066" dirty="0"/>
          </a:p>
        </p:txBody>
      </p:sp>
      <p:sp>
        <p:nvSpPr>
          <p:cNvPr id="12" name="Text 26">
            <a:extLst>
              <a:ext uri="{FF2B5EF4-FFF2-40B4-BE49-F238E27FC236}">
                <a16:creationId xmlns:a16="http://schemas.microsoft.com/office/drawing/2014/main" id="{265DD021-9E6B-1142-3B75-705204CE0ACC}"/>
              </a:ext>
            </a:extLst>
          </p:cNvPr>
          <p:cNvSpPr/>
          <p:nvPr/>
        </p:nvSpPr>
        <p:spPr>
          <a:xfrm>
            <a:off x="1841605" y="2509482"/>
            <a:ext cx="2811780" cy="273248"/>
          </a:xfrm>
          <a:prstGeom prst="rect">
            <a:avLst/>
          </a:prstGeom>
          <a:noFill/>
          <a:ln/>
        </p:spPr>
        <p:txBody>
          <a:bodyPr wrap="none" rtlCol="0" anchor="t"/>
          <a:lstStyle/>
          <a:p>
            <a:pPr marL="0" indent="0" algn="l">
              <a:lnSpc>
                <a:spcPts val="2152"/>
              </a:lnSpc>
              <a:buNone/>
            </a:pPr>
            <a:r>
              <a:rPr lang="en-US" sz="2400" b="1" dirty="0">
                <a:solidFill>
                  <a:srgbClr val="272525"/>
                </a:solidFill>
                <a:latin typeface="Gelasio" pitchFamily="34" charset="0"/>
                <a:ea typeface="Gelasio" pitchFamily="34" charset="-122"/>
                <a:cs typeface="Gelasio" pitchFamily="34" charset="-120"/>
              </a:rPr>
              <a:t>Compute Principal Components</a:t>
            </a:r>
            <a:endParaRPr lang="en-US" sz="2400" b="1" dirty="0"/>
          </a:p>
        </p:txBody>
      </p:sp>
      <p:sp>
        <p:nvSpPr>
          <p:cNvPr id="13" name="Text 27">
            <a:extLst>
              <a:ext uri="{FF2B5EF4-FFF2-40B4-BE49-F238E27FC236}">
                <a16:creationId xmlns:a16="http://schemas.microsoft.com/office/drawing/2014/main" id="{B674744E-0863-F825-033E-A60EC8F7C9CA}"/>
              </a:ext>
            </a:extLst>
          </p:cNvPr>
          <p:cNvSpPr/>
          <p:nvPr/>
        </p:nvSpPr>
        <p:spPr>
          <a:xfrm>
            <a:off x="1949767" y="2942867"/>
            <a:ext cx="4004668" cy="839391"/>
          </a:xfrm>
          <a:prstGeom prst="rect">
            <a:avLst/>
          </a:prstGeom>
          <a:noFill/>
          <a:ln/>
        </p:spPr>
        <p:txBody>
          <a:bodyPr wrap="square" rtlCol="0" anchor="t"/>
          <a:lstStyle/>
          <a:p>
            <a:pPr marL="0" indent="0" algn="l">
              <a:lnSpc>
                <a:spcPts val="2204"/>
              </a:lnSpc>
              <a:buNone/>
            </a:pPr>
            <a:r>
              <a:rPr lang="en-US" sz="2000" dirty="0">
                <a:solidFill>
                  <a:srgbClr val="272525"/>
                </a:solidFill>
                <a:ea typeface="Lato" pitchFamily="34" charset="-122"/>
                <a:cs typeface="Lato" pitchFamily="34" charset="-120"/>
              </a:rPr>
              <a:t>The program calculates the principal components of the data using the PCA() function.</a:t>
            </a:r>
            <a:endParaRPr lang="en-US" sz="2000" dirty="0"/>
          </a:p>
        </p:txBody>
      </p:sp>
      <p:sp>
        <p:nvSpPr>
          <p:cNvPr id="14" name="Text 1">
            <a:extLst>
              <a:ext uri="{FF2B5EF4-FFF2-40B4-BE49-F238E27FC236}">
                <a16:creationId xmlns:a16="http://schemas.microsoft.com/office/drawing/2014/main" id="{57774B9E-9F09-D887-D41F-71EA044C729F}"/>
              </a:ext>
            </a:extLst>
          </p:cNvPr>
          <p:cNvSpPr/>
          <p:nvPr/>
        </p:nvSpPr>
        <p:spPr>
          <a:xfrm>
            <a:off x="552033" y="211573"/>
            <a:ext cx="7978140" cy="694373"/>
          </a:xfrm>
          <a:prstGeom prst="rect">
            <a:avLst/>
          </a:prstGeom>
          <a:noFill/>
          <a:ln/>
        </p:spPr>
        <p:txBody>
          <a:bodyPr wrap="none" rtlCol="0" anchor="t"/>
          <a:lstStyle/>
          <a:p>
            <a:pPr marL="0" indent="0">
              <a:lnSpc>
                <a:spcPts val="5468"/>
              </a:lnSpc>
              <a:buNone/>
            </a:pPr>
            <a:r>
              <a:rPr lang="en-US" altLang="zh-CN" sz="4400" b="1" dirty="0">
                <a:solidFill>
                  <a:srgbClr val="312F2B"/>
                </a:solidFill>
                <a:ea typeface="Gelasio" pitchFamily="34" charset="-122"/>
                <a:cs typeface="Gelasio" pitchFamily="34" charset="-120"/>
              </a:rPr>
              <a:t>Part two:</a:t>
            </a:r>
          </a:p>
          <a:p>
            <a:pPr marL="0" indent="0">
              <a:lnSpc>
                <a:spcPts val="5468"/>
              </a:lnSpc>
              <a:buNone/>
            </a:pPr>
            <a:r>
              <a:rPr lang="en-US" altLang="zh-CN" sz="4400" b="1" dirty="0"/>
              <a:t>Steps taken during the PCA analysis and interpreting results</a:t>
            </a:r>
          </a:p>
        </p:txBody>
      </p:sp>
      <p:pic>
        <p:nvPicPr>
          <p:cNvPr id="15" name="图片 14">
            <a:extLst>
              <a:ext uri="{FF2B5EF4-FFF2-40B4-BE49-F238E27FC236}">
                <a16:creationId xmlns:a16="http://schemas.microsoft.com/office/drawing/2014/main" id="{C8A82219-3FBE-56B2-90CA-88AA1F18DC07}"/>
              </a:ext>
            </a:extLst>
          </p:cNvPr>
          <p:cNvPicPr>
            <a:picLocks noChangeAspect="1"/>
          </p:cNvPicPr>
          <p:nvPr/>
        </p:nvPicPr>
        <p:blipFill>
          <a:blip r:embed="rId3"/>
          <a:stretch>
            <a:fillRect/>
          </a:stretch>
        </p:blipFill>
        <p:spPr>
          <a:xfrm>
            <a:off x="7657542" y="6427458"/>
            <a:ext cx="6177008" cy="1738325"/>
          </a:xfrm>
          <a:prstGeom prst="rect">
            <a:avLst/>
          </a:prstGeom>
        </p:spPr>
      </p:pic>
      <p:sp>
        <p:nvSpPr>
          <p:cNvPr id="16" name="Text 26">
            <a:extLst>
              <a:ext uri="{FF2B5EF4-FFF2-40B4-BE49-F238E27FC236}">
                <a16:creationId xmlns:a16="http://schemas.microsoft.com/office/drawing/2014/main" id="{8A6FE01E-C9AC-FABE-0B1C-136C188EBD0C}"/>
              </a:ext>
            </a:extLst>
          </p:cNvPr>
          <p:cNvSpPr/>
          <p:nvPr/>
        </p:nvSpPr>
        <p:spPr>
          <a:xfrm>
            <a:off x="1864299" y="5938979"/>
            <a:ext cx="2811780" cy="273248"/>
          </a:xfrm>
          <a:prstGeom prst="rect">
            <a:avLst/>
          </a:prstGeom>
          <a:noFill/>
          <a:ln/>
        </p:spPr>
        <p:txBody>
          <a:bodyPr wrap="none" rtlCol="0" anchor="t"/>
          <a:lstStyle/>
          <a:p>
            <a:pPr marL="0" indent="0" algn="l">
              <a:lnSpc>
                <a:spcPts val="2152"/>
              </a:lnSpc>
              <a:buNone/>
            </a:pPr>
            <a:r>
              <a:rPr lang="en-US" altLang="zh-CN" sz="2400" b="1" dirty="0"/>
              <a:t>Choosing the appropriate number of principal components</a:t>
            </a:r>
            <a:endParaRPr lang="en-US" sz="2400" b="1" dirty="0"/>
          </a:p>
        </p:txBody>
      </p:sp>
      <p:sp>
        <p:nvSpPr>
          <p:cNvPr id="17" name="Shape 13">
            <a:extLst>
              <a:ext uri="{FF2B5EF4-FFF2-40B4-BE49-F238E27FC236}">
                <a16:creationId xmlns:a16="http://schemas.microsoft.com/office/drawing/2014/main" id="{C8E2134E-F775-702F-0AFF-56DD6457145F}"/>
              </a:ext>
            </a:extLst>
          </p:cNvPr>
          <p:cNvSpPr/>
          <p:nvPr/>
        </p:nvSpPr>
        <p:spPr>
          <a:xfrm>
            <a:off x="1178719" y="6090304"/>
            <a:ext cx="612100" cy="34885"/>
          </a:xfrm>
          <a:prstGeom prst="rect">
            <a:avLst/>
          </a:prstGeom>
          <a:solidFill>
            <a:srgbClr val="D1D1C7"/>
          </a:solidFill>
          <a:ln/>
        </p:spPr>
      </p:sp>
      <p:sp>
        <p:nvSpPr>
          <p:cNvPr id="18" name="Text 10">
            <a:extLst>
              <a:ext uri="{FF2B5EF4-FFF2-40B4-BE49-F238E27FC236}">
                <a16:creationId xmlns:a16="http://schemas.microsoft.com/office/drawing/2014/main" id="{137B1CA3-CED4-9D4D-DB94-3F55D8EC8375}"/>
              </a:ext>
            </a:extLst>
          </p:cNvPr>
          <p:cNvSpPr/>
          <p:nvPr/>
        </p:nvSpPr>
        <p:spPr>
          <a:xfrm>
            <a:off x="922906" y="5877067"/>
            <a:ext cx="144780" cy="328017"/>
          </a:xfrm>
          <a:prstGeom prst="rect">
            <a:avLst/>
          </a:prstGeom>
          <a:noFill/>
          <a:ln/>
        </p:spPr>
        <p:txBody>
          <a:bodyPr wrap="none" rtlCol="0" anchor="t"/>
          <a:lstStyle/>
          <a:p>
            <a:pPr marL="0" indent="0" algn="ctr">
              <a:lnSpc>
                <a:spcPts val="2582"/>
              </a:lnSpc>
              <a:buNone/>
            </a:pPr>
            <a:r>
              <a:rPr lang="en-US" sz="2066" dirty="0">
                <a:solidFill>
                  <a:srgbClr val="272525"/>
                </a:solidFill>
                <a:latin typeface="Gelasio" pitchFamily="34" charset="0"/>
                <a:ea typeface="Gelasio" pitchFamily="34" charset="-122"/>
              </a:rPr>
              <a:t>2</a:t>
            </a:r>
            <a:endParaRPr lang="en-US" sz="2066" dirty="0"/>
          </a:p>
        </p:txBody>
      </p:sp>
      <p:sp>
        <p:nvSpPr>
          <p:cNvPr id="19" name="Text 27">
            <a:extLst>
              <a:ext uri="{FF2B5EF4-FFF2-40B4-BE49-F238E27FC236}">
                <a16:creationId xmlns:a16="http://schemas.microsoft.com/office/drawing/2014/main" id="{93086EB3-3A4B-6491-943F-1617556FC8A1}"/>
              </a:ext>
            </a:extLst>
          </p:cNvPr>
          <p:cNvSpPr/>
          <p:nvPr/>
        </p:nvSpPr>
        <p:spPr>
          <a:xfrm>
            <a:off x="1949768" y="6427458"/>
            <a:ext cx="5225322" cy="1123716"/>
          </a:xfrm>
          <a:prstGeom prst="rect">
            <a:avLst/>
          </a:prstGeom>
          <a:noFill/>
          <a:ln/>
        </p:spPr>
        <p:txBody>
          <a:bodyPr wrap="square" rtlCol="0" anchor="t"/>
          <a:lstStyle/>
          <a:p>
            <a:pPr marL="0" indent="0" algn="l">
              <a:lnSpc>
                <a:spcPts val="2204"/>
              </a:lnSpc>
              <a:buNone/>
            </a:pPr>
            <a:r>
              <a:rPr lang="en-US" altLang="zh-CN" sz="2000" dirty="0">
                <a:solidFill>
                  <a:srgbClr val="272525"/>
                </a:solidFill>
                <a:ea typeface="Lato" pitchFamily="34" charset="-122"/>
                <a:cs typeface="Lato" pitchFamily="34" charset="-120"/>
              </a:rPr>
              <a:t>Determine the main principal component number required to explain at least 80% of the variance by analyzing the cumulative explanatory variance.</a:t>
            </a:r>
            <a:endParaRPr lang="en-US" sz="2000" dirty="0"/>
          </a:p>
        </p:txBody>
      </p:sp>
      <p:pic>
        <p:nvPicPr>
          <p:cNvPr id="20" name="图片 19">
            <a:extLst>
              <a:ext uri="{FF2B5EF4-FFF2-40B4-BE49-F238E27FC236}">
                <a16:creationId xmlns:a16="http://schemas.microsoft.com/office/drawing/2014/main" id="{FB5F30FF-89E6-22E9-3387-BCBF3FB8EEA7}"/>
              </a:ext>
            </a:extLst>
          </p:cNvPr>
          <p:cNvPicPr>
            <a:picLocks noChangeAspect="1"/>
          </p:cNvPicPr>
          <p:nvPr/>
        </p:nvPicPr>
        <p:blipFill>
          <a:blip r:embed="rId4"/>
          <a:stretch>
            <a:fillRect/>
          </a:stretch>
        </p:blipFill>
        <p:spPr>
          <a:xfrm>
            <a:off x="7657542" y="2510440"/>
            <a:ext cx="6815242" cy="1186804"/>
          </a:xfrm>
          <a:prstGeom prst="rect">
            <a:avLst/>
          </a:prstGeom>
        </p:spPr>
      </p:pic>
    </p:spTree>
    <p:extLst>
      <p:ext uri="{BB962C8B-B14F-4D97-AF65-F5344CB8AC3E}">
        <p14:creationId xmlns:p14="http://schemas.microsoft.com/office/powerpoint/2010/main" val="681491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785"/>
            <a:ext cx="14630400" cy="8229600"/>
          </a:xfrm>
          <a:prstGeom prst="rect">
            <a:avLst/>
          </a:prstGeom>
          <a:solidFill>
            <a:srgbClr val="FFFFFF">
              <a:alpha val="75000"/>
            </a:srgbClr>
          </a:solidFill>
          <a:ln w="10835">
            <a:solidFill>
              <a:srgbClr val="FFFFFF">
                <a:alpha val="64000"/>
              </a:srgbClr>
            </a:solidFill>
            <a:prstDash val="solid"/>
          </a:ln>
        </p:spPr>
      </p:sp>
      <p:sp>
        <p:nvSpPr>
          <p:cNvPr id="5" name="Shape 2"/>
          <p:cNvSpPr/>
          <p:nvPr/>
        </p:nvSpPr>
        <p:spPr>
          <a:xfrm>
            <a:off x="984887" y="1858327"/>
            <a:ext cx="45719" cy="2632557"/>
          </a:xfrm>
          <a:prstGeom prst="rect">
            <a:avLst/>
          </a:prstGeom>
          <a:solidFill>
            <a:srgbClr val="D1D1C7"/>
          </a:solidFill>
          <a:ln/>
        </p:spPr>
      </p:sp>
      <p:sp>
        <p:nvSpPr>
          <p:cNvPr id="7" name="Shape 4"/>
          <p:cNvSpPr/>
          <p:nvPr/>
        </p:nvSpPr>
        <p:spPr>
          <a:xfrm>
            <a:off x="805578" y="2473302"/>
            <a:ext cx="393502" cy="393502"/>
          </a:xfrm>
          <a:prstGeom prst="roundRect">
            <a:avLst>
              <a:gd name="adj" fmla="val 20002"/>
            </a:avLst>
          </a:prstGeom>
          <a:solidFill>
            <a:srgbClr val="E8E8E3"/>
          </a:solidFill>
          <a:ln w="10835">
            <a:solidFill>
              <a:srgbClr val="D1D1C7"/>
            </a:solidFill>
            <a:prstDash val="solid"/>
          </a:ln>
        </p:spPr>
      </p:sp>
      <p:sp>
        <p:nvSpPr>
          <p:cNvPr id="8" name="Text 5"/>
          <p:cNvSpPr/>
          <p:nvPr/>
        </p:nvSpPr>
        <p:spPr>
          <a:xfrm>
            <a:off x="930652" y="1313855"/>
            <a:ext cx="114300" cy="328017"/>
          </a:xfrm>
          <a:prstGeom prst="rect">
            <a:avLst/>
          </a:prstGeom>
          <a:noFill/>
          <a:ln/>
        </p:spPr>
        <p:txBody>
          <a:bodyPr wrap="none" rtlCol="0" anchor="t"/>
          <a:lstStyle/>
          <a:p>
            <a:pPr marL="0" indent="0" algn="ctr">
              <a:lnSpc>
                <a:spcPts val="2582"/>
              </a:lnSpc>
              <a:buNone/>
            </a:pPr>
            <a:endParaRPr lang="en-US" sz="2066" dirty="0"/>
          </a:p>
        </p:txBody>
      </p:sp>
      <p:sp>
        <p:nvSpPr>
          <p:cNvPr id="9" name="Text 6"/>
          <p:cNvSpPr/>
          <p:nvPr/>
        </p:nvSpPr>
        <p:spPr>
          <a:xfrm>
            <a:off x="1949768" y="1319451"/>
            <a:ext cx="2286000" cy="273248"/>
          </a:xfrm>
          <a:prstGeom prst="rect">
            <a:avLst/>
          </a:prstGeom>
          <a:noFill/>
          <a:ln/>
        </p:spPr>
        <p:txBody>
          <a:bodyPr wrap="none" rtlCol="0" anchor="t"/>
          <a:lstStyle/>
          <a:p>
            <a:pPr marL="0" indent="0" algn="l">
              <a:lnSpc>
                <a:spcPts val="2152"/>
              </a:lnSpc>
              <a:buNone/>
            </a:pPr>
            <a:endParaRPr lang="en-US" sz="1722" dirty="0"/>
          </a:p>
        </p:txBody>
      </p:sp>
      <p:sp>
        <p:nvSpPr>
          <p:cNvPr id="13" name="Text 10"/>
          <p:cNvSpPr/>
          <p:nvPr/>
        </p:nvSpPr>
        <p:spPr>
          <a:xfrm>
            <a:off x="930652" y="2431018"/>
            <a:ext cx="144780" cy="328017"/>
          </a:xfrm>
          <a:prstGeom prst="rect">
            <a:avLst/>
          </a:prstGeom>
          <a:noFill/>
          <a:ln/>
        </p:spPr>
        <p:txBody>
          <a:bodyPr wrap="none" rtlCol="0" anchor="t"/>
          <a:lstStyle/>
          <a:p>
            <a:pPr marL="0" indent="0" algn="ctr">
              <a:lnSpc>
                <a:spcPts val="2582"/>
              </a:lnSpc>
              <a:buNone/>
            </a:pPr>
            <a:r>
              <a:rPr lang="en-US" sz="2066" dirty="0">
                <a:solidFill>
                  <a:srgbClr val="272525"/>
                </a:solidFill>
                <a:latin typeface="Gelasio" pitchFamily="34" charset="0"/>
                <a:ea typeface="Gelasio" pitchFamily="34" charset="-122"/>
              </a:rPr>
              <a:t>5</a:t>
            </a:r>
            <a:endParaRPr lang="en-US" sz="2066" dirty="0"/>
          </a:p>
        </p:txBody>
      </p:sp>
      <p:sp>
        <p:nvSpPr>
          <p:cNvPr id="16" name="Shape 13"/>
          <p:cNvSpPr/>
          <p:nvPr/>
        </p:nvSpPr>
        <p:spPr>
          <a:xfrm>
            <a:off x="1213548" y="2677910"/>
            <a:ext cx="612100" cy="34885"/>
          </a:xfrm>
          <a:prstGeom prst="rect">
            <a:avLst/>
          </a:prstGeom>
          <a:solidFill>
            <a:srgbClr val="D1D1C7"/>
          </a:solidFill>
          <a:ln/>
        </p:spPr>
      </p:sp>
      <p:sp>
        <p:nvSpPr>
          <p:cNvPr id="28" name="Text 25"/>
          <p:cNvSpPr/>
          <p:nvPr/>
        </p:nvSpPr>
        <p:spPr>
          <a:xfrm>
            <a:off x="919222" y="5771198"/>
            <a:ext cx="137160" cy="328017"/>
          </a:xfrm>
          <a:prstGeom prst="rect">
            <a:avLst/>
          </a:prstGeom>
          <a:noFill/>
          <a:ln/>
        </p:spPr>
        <p:txBody>
          <a:bodyPr wrap="none" rtlCol="0" anchor="t"/>
          <a:lstStyle/>
          <a:p>
            <a:pPr marL="0" indent="0" algn="ctr">
              <a:lnSpc>
                <a:spcPts val="2582"/>
              </a:lnSpc>
              <a:buNone/>
            </a:pPr>
            <a:endParaRPr lang="en-US" sz="2066" dirty="0"/>
          </a:p>
        </p:txBody>
      </p:sp>
      <p:sp>
        <p:nvSpPr>
          <p:cNvPr id="29" name="Text 26"/>
          <p:cNvSpPr/>
          <p:nvPr/>
        </p:nvSpPr>
        <p:spPr>
          <a:xfrm>
            <a:off x="1841605" y="2509482"/>
            <a:ext cx="2811780" cy="273248"/>
          </a:xfrm>
          <a:prstGeom prst="rect">
            <a:avLst/>
          </a:prstGeom>
          <a:noFill/>
          <a:ln/>
        </p:spPr>
        <p:txBody>
          <a:bodyPr wrap="none" rtlCol="0" anchor="t"/>
          <a:lstStyle/>
          <a:p>
            <a:pPr marL="0" indent="0" algn="l">
              <a:lnSpc>
                <a:spcPts val="2152"/>
              </a:lnSpc>
              <a:buNone/>
            </a:pPr>
            <a:r>
              <a:rPr lang="en-US" altLang="zh-CN" sz="2400" b="1" dirty="0"/>
              <a:t>Assessing the information loss</a:t>
            </a:r>
            <a:endParaRPr lang="en-US" sz="2400" b="1" dirty="0"/>
          </a:p>
        </p:txBody>
      </p:sp>
      <p:sp>
        <p:nvSpPr>
          <p:cNvPr id="30" name="Text 27"/>
          <p:cNvSpPr/>
          <p:nvPr/>
        </p:nvSpPr>
        <p:spPr>
          <a:xfrm>
            <a:off x="1949767" y="2942867"/>
            <a:ext cx="5714006" cy="1443399"/>
          </a:xfrm>
          <a:prstGeom prst="rect">
            <a:avLst/>
          </a:prstGeom>
          <a:noFill/>
          <a:ln/>
        </p:spPr>
        <p:txBody>
          <a:bodyPr wrap="square" rtlCol="0" anchor="t"/>
          <a:lstStyle/>
          <a:p>
            <a:pPr marL="0" indent="0" algn="l">
              <a:lnSpc>
                <a:spcPts val="2204"/>
              </a:lnSpc>
              <a:buNone/>
            </a:pPr>
            <a:r>
              <a:rPr lang="en-US" altLang="zh-CN" sz="2000" b="0" i="0" dirty="0">
                <a:solidFill>
                  <a:srgbClr val="0F0F0F"/>
                </a:solidFill>
                <a:effectLst/>
              </a:rPr>
              <a:t>Based on the printed variance ratio of the explanation and the cumulative variance curve of the explanation, it can be inferred that </a:t>
            </a:r>
            <a:r>
              <a:rPr lang="en-US" altLang="zh-CN" sz="2000" b="1" i="0" dirty="0">
                <a:solidFill>
                  <a:srgbClr val="0F0F0F"/>
                </a:solidFill>
                <a:effectLst/>
              </a:rPr>
              <a:t>13%</a:t>
            </a:r>
            <a:endParaRPr lang="en-US" sz="2000" b="1" dirty="0"/>
          </a:p>
        </p:txBody>
      </p:sp>
      <p:sp>
        <p:nvSpPr>
          <p:cNvPr id="33" name="Text 1">
            <a:extLst>
              <a:ext uri="{FF2B5EF4-FFF2-40B4-BE49-F238E27FC236}">
                <a16:creationId xmlns:a16="http://schemas.microsoft.com/office/drawing/2014/main" id="{CBA31B6D-4A8A-6E54-E4F4-681E659CC149}"/>
              </a:ext>
            </a:extLst>
          </p:cNvPr>
          <p:cNvSpPr/>
          <p:nvPr/>
        </p:nvSpPr>
        <p:spPr>
          <a:xfrm>
            <a:off x="552033" y="211573"/>
            <a:ext cx="7978140" cy="694373"/>
          </a:xfrm>
          <a:prstGeom prst="rect">
            <a:avLst/>
          </a:prstGeom>
          <a:noFill/>
          <a:ln/>
        </p:spPr>
        <p:txBody>
          <a:bodyPr wrap="none" rtlCol="0" anchor="t"/>
          <a:lstStyle/>
          <a:p>
            <a:pPr marL="0" indent="0">
              <a:lnSpc>
                <a:spcPts val="5468"/>
              </a:lnSpc>
              <a:buNone/>
            </a:pPr>
            <a:r>
              <a:rPr lang="en-US" altLang="zh-CN" sz="4400" b="1" dirty="0">
                <a:solidFill>
                  <a:srgbClr val="312F2B"/>
                </a:solidFill>
                <a:ea typeface="Gelasio" pitchFamily="34" charset="-122"/>
                <a:cs typeface="Gelasio" pitchFamily="34" charset="-120"/>
              </a:rPr>
              <a:t>Part</a:t>
            </a:r>
            <a:r>
              <a:rPr lang="zh-CN" altLang="en-US" sz="4400" b="1" dirty="0">
                <a:solidFill>
                  <a:srgbClr val="312F2B"/>
                </a:solidFill>
                <a:ea typeface="Gelasio" pitchFamily="34" charset="-122"/>
                <a:cs typeface="Gelasio" pitchFamily="34" charset="-120"/>
              </a:rPr>
              <a:t> </a:t>
            </a:r>
            <a:r>
              <a:rPr lang="en-US" altLang="zh-CN" sz="4400" b="1" dirty="0">
                <a:solidFill>
                  <a:srgbClr val="312F2B"/>
                </a:solidFill>
                <a:ea typeface="Gelasio" pitchFamily="34" charset="-122"/>
                <a:cs typeface="Gelasio" pitchFamily="34" charset="-120"/>
              </a:rPr>
              <a:t>two:</a:t>
            </a:r>
          </a:p>
          <a:p>
            <a:pPr marL="0" indent="0">
              <a:lnSpc>
                <a:spcPts val="5468"/>
              </a:lnSpc>
              <a:buNone/>
            </a:pPr>
            <a:r>
              <a:rPr lang="en-US" altLang="zh-CN" sz="4400" b="1" dirty="0"/>
              <a:t>Steps taken during the PCA analysis and interpreting results</a:t>
            </a:r>
          </a:p>
        </p:txBody>
      </p:sp>
      <p:pic>
        <p:nvPicPr>
          <p:cNvPr id="11" name="图片 10">
            <a:extLst>
              <a:ext uri="{FF2B5EF4-FFF2-40B4-BE49-F238E27FC236}">
                <a16:creationId xmlns:a16="http://schemas.microsoft.com/office/drawing/2014/main" id="{CD21A63C-9105-1E35-2436-AF7333284C54}"/>
              </a:ext>
            </a:extLst>
          </p:cNvPr>
          <p:cNvPicPr>
            <a:picLocks noChangeAspect="1"/>
          </p:cNvPicPr>
          <p:nvPr/>
        </p:nvPicPr>
        <p:blipFill>
          <a:blip r:embed="rId4"/>
          <a:stretch>
            <a:fillRect/>
          </a:stretch>
        </p:blipFill>
        <p:spPr>
          <a:xfrm>
            <a:off x="0" y="4495486"/>
            <a:ext cx="6039974" cy="2489258"/>
          </a:xfrm>
          <a:prstGeom prst="rect">
            <a:avLst/>
          </a:prstGeom>
        </p:spPr>
      </p:pic>
      <p:pic>
        <p:nvPicPr>
          <p:cNvPr id="12" name="图片 11">
            <a:extLst>
              <a:ext uri="{FF2B5EF4-FFF2-40B4-BE49-F238E27FC236}">
                <a16:creationId xmlns:a16="http://schemas.microsoft.com/office/drawing/2014/main" id="{B7321BBF-B7F6-8D57-8BB2-92783F284271}"/>
              </a:ext>
            </a:extLst>
          </p:cNvPr>
          <p:cNvPicPr>
            <a:picLocks noChangeAspect="1"/>
          </p:cNvPicPr>
          <p:nvPr/>
        </p:nvPicPr>
        <p:blipFill>
          <a:blip r:embed="rId5"/>
          <a:stretch>
            <a:fillRect/>
          </a:stretch>
        </p:blipFill>
        <p:spPr>
          <a:xfrm>
            <a:off x="9051181" y="4471068"/>
            <a:ext cx="3414737" cy="2505093"/>
          </a:xfrm>
          <a:prstGeom prst="rect">
            <a:avLst/>
          </a:prstGeom>
        </p:spPr>
      </p:pic>
      <p:pic>
        <p:nvPicPr>
          <p:cNvPr id="14" name="图片 13">
            <a:extLst>
              <a:ext uri="{FF2B5EF4-FFF2-40B4-BE49-F238E27FC236}">
                <a16:creationId xmlns:a16="http://schemas.microsoft.com/office/drawing/2014/main" id="{448BEA7C-0D53-87E4-81ED-F5A2FE84B3DA}"/>
              </a:ext>
            </a:extLst>
          </p:cNvPr>
          <p:cNvPicPr>
            <a:picLocks noChangeAspect="1"/>
          </p:cNvPicPr>
          <p:nvPr/>
        </p:nvPicPr>
        <p:blipFill>
          <a:blip r:embed="rId6"/>
          <a:stretch>
            <a:fillRect/>
          </a:stretch>
        </p:blipFill>
        <p:spPr>
          <a:xfrm>
            <a:off x="12465918" y="2779475"/>
            <a:ext cx="2171716" cy="5448340"/>
          </a:xfrm>
          <a:prstGeom prst="rect">
            <a:avLst/>
          </a:prstGeom>
        </p:spPr>
      </p:pic>
      <p:sp>
        <p:nvSpPr>
          <p:cNvPr id="15" name="箭头: 右 14">
            <a:extLst>
              <a:ext uri="{FF2B5EF4-FFF2-40B4-BE49-F238E27FC236}">
                <a16:creationId xmlns:a16="http://schemas.microsoft.com/office/drawing/2014/main" id="{6C9F2C34-67FB-CF62-68F6-8846C3AA6F57}"/>
              </a:ext>
            </a:extLst>
          </p:cNvPr>
          <p:cNvSpPr/>
          <p:nvPr/>
        </p:nvSpPr>
        <p:spPr>
          <a:xfrm>
            <a:off x="6131107" y="5501399"/>
            <a:ext cx="2828941" cy="40888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260670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w="13811">
            <a:solidFill>
              <a:srgbClr val="FFFFFF">
                <a:alpha val="64000"/>
              </a:srgbClr>
            </a:solidFill>
            <a:prstDash val="solid"/>
          </a:ln>
        </p:spPr>
      </p:sp>
      <p:sp>
        <p:nvSpPr>
          <p:cNvPr id="4" name="Text 1"/>
          <p:cNvSpPr/>
          <p:nvPr/>
        </p:nvSpPr>
        <p:spPr>
          <a:xfrm>
            <a:off x="552033" y="211573"/>
            <a:ext cx="7978140" cy="694373"/>
          </a:xfrm>
          <a:prstGeom prst="rect">
            <a:avLst/>
          </a:prstGeom>
          <a:noFill/>
          <a:ln/>
        </p:spPr>
        <p:txBody>
          <a:bodyPr wrap="none" rtlCol="0" anchor="t"/>
          <a:lstStyle/>
          <a:p>
            <a:pPr marL="0" indent="0">
              <a:lnSpc>
                <a:spcPts val="5468"/>
              </a:lnSpc>
              <a:buNone/>
            </a:pPr>
            <a:r>
              <a:rPr lang="en-US" sz="4400" b="1" dirty="0">
                <a:solidFill>
                  <a:srgbClr val="312F2B"/>
                </a:solidFill>
                <a:ea typeface="Gelasio" pitchFamily="34" charset="-122"/>
                <a:cs typeface="Gelasio" pitchFamily="34" charset="-120"/>
              </a:rPr>
              <a:t>Part three: </a:t>
            </a:r>
            <a:r>
              <a:rPr lang="en-US" altLang="zh-CN" sz="4400" b="1" dirty="0"/>
              <a:t>future plan</a:t>
            </a:r>
            <a:endParaRPr lang="en-US" sz="4400" b="1" dirty="0"/>
          </a:p>
        </p:txBody>
      </p:sp>
      <p:sp>
        <p:nvSpPr>
          <p:cNvPr id="5" name="Text 2"/>
          <p:cNvSpPr/>
          <p:nvPr/>
        </p:nvSpPr>
        <p:spPr>
          <a:xfrm>
            <a:off x="552033" y="1493368"/>
            <a:ext cx="11861775" cy="347186"/>
          </a:xfrm>
          <a:prstGeom prst="rect">
            <a:avLst/>
          </a:prstGeom>
          <a:noFill/>
          <a:ln/>
        </p:spPr>
        <p:txBody>
          <a:bodyPr wrap="none" rtlCol="0" anchor="t"/>
          <a:lstStyle/>
          <a:p>
            <a:pPr marL="0" indent="0">
              <a:lnSpc>
                <a:spcPts val="2734"/>
              </a:lnSpc>
              <a:buNone/>
            </a:pPr>
            <a:r>
              <a:rPr lang="en-US" altLang="zh-CN" sz="2400" dirty="0"/>
              <a:t> </a:t>
            </a:r>
            <a:r>
              <a:rPr lang="en-US" altLang="zh-CN" sz="2400" b="1" dirty="0"/>
              <a:t>A future plan on the modelling and prediction of taxi time to complete the final group report. </a:t>
            </a:r>
            <a:endParaRPr lang="en-US" sz="2400" b="1" dirty="0"/>
          </a:p>
        </p:txBody>
      </p:sp>
      <p:sp>
        <p:nvSpPr>
          <p:cNvPr id="6" name="Text 3"/>
          <p:cNvSpPr/>
          <p:nvPr/>
        </p:nvSpPr>
        <p:spPr>
          <a:xfrm>
            <a:off x="552033" y="2400231"/>
            <a:ext cx="5006221" cy="1066205"/>
          </a:xfrm>
          <a:prstGeom prst="rect">
            <a:avLst/>
          </a:prstGeom>
          <a:noFill/>
          <a:ln/>
        </p:spPr>
        <p:txBody>
          <a:bodyPr wrap="square" rtlCol="0" anchor="t"/>
          <a:lstStyle/>
          <a:p>
            <a:pPr marL="0" indent="0">
              <a:lnSpc>
                <a:spcPts val="2799"/>
              </a:lnSpc>
              <a:buNone/>
            </a:pPr>
            <a:endParaRPr lang="en-US" sz="1750" dirty="0"/>
          </a:p>
        </p:txBody>
      </p:sp>
      <p:sp>
        <p:nvSpPr>
          <p:cNvPr id="20" name="Text 5">
            <a:extLst>
              <a:ext uri="{FF2B5EF4-FFF2-40B4-BE49-F238E27FC236}">
                <a16:creationId xmlns:a16="http://schemas.microsoft.com/office/drawing/2014/main" id="{A5F31AAA-7A7A-96F2-D5B8-4FA79BF129D0}"/>
              </a:ext>
            </a:extLst>
          </p:cNvPr>
          <p:cNvSpPr/>
          <p:nvPr/>
        </p:nvSpPr>
        <p:spPr>
          <a:xfrm>
            <a:off x="475251" y="2530508"/>
            <a:ext cx="5645330" cy="5522111"/>
          </a:xfrm>
          <a:prstGeom prst="rect">
            <a:avLst/>
          </a:prstGeom>
          <a:noFill/>
          <a:ln/>
        </p:spPr>
        <p:txBody>
          <a:bodyPr wrap="square" rtlCol="0" anchor="t"/>
          <a:lstStyle/>
          <a:p>
            <a:pPr marL="0" indent="0">
              <a:lnSpc>
                <a:spcPts val="2799"/>
              </a:lnSpc>
              <a:buNone/>
            </a:pPr>
            <a:endParaRPr lang="en-US" sz="1750" dirty="0"/>
          </a:p>
        </p:txBody>
      </p:sp>
      <p:sp>
        <p:nvSpPr>
          <p:cNvPr id="21" name="Text 5">
            <a:extLst>
              <a:ext uri="{FF2B5EF4-FFF2-40B4-BE49-F238E27FC236}">
                <a16:creationId xmlns:a16="http://schemas.microsoft.com/office/drawing/2014/main" id="{D42AF359-8565-2CA9-6946-B2E025BC177B}"/>
              </a:ext>
            </a:extLst>
          </p:cNvPr>
          <p:cNvSpPr/>
          <p:nvPr/>
        </p:nvSpPr>
        <p:spPr>
          <a:xfrm>
            <a:off x="552033" y="2548935"/>
            <a:ext cx="13407315" cy="6242263"/>
          </a:xfrm>
          <a:prstGeom prst="rect">
            <a:avLst/>
          </a:prstGeom>
          <a:noFill/>
          <a:ln/>
        </p:spPr>
        <p:txBody>
          <a:bodyPr wrap="square" rtlCol="0" anchor="t"/>
          <a:lstStyle/>
          <a:p>
            <a:pPr marL="342900" indent="-342900">
              <a:lnSpc>
                <a:spcPts val="2799"/>
              </a:lnSpc>
              <a:buAutoNum type="arabicPeriod"/>
            </a:pPr>
            <a:r>
              <a:rPr lang="en-US" altLang="zh-CN" sz="2000" dirty="0">
                <a:solidFill>
                  <a:srgbClr val="272525"/>
                </a:solidFill>
                <a:ea typeface="Lato" pitchFamily="34" charset="-122"/>
                <a:cs typeface="Lato" pitchFamily="34" charset="-120"/>
              </a:rPr>
              <a:t>* * Feature Engineering improvement * *: Further explore and select features related to taxi time. </a:t>
            </a:r>
          </a:p>
          <a:p>
            <a:pPr marL="342900" indent="-342900">
              <a:lnSpc>
                <a:spcPts val="2799"/>
              </a:lnSpc>
              <a:buAutoNum type="arabicPeriod"/>
            </a:pPr>
            <a:endParaRPr lang="en-US" altLang="zh-CN" sz="2000" dirty="0">
              <a:solidFill>
                <a:srgbClr val="272525"/>
              </a:solidFill>
              <a:ea typeface="Lato" pitchFamily="34" charset="-122"/>
              <a:cs typeface="Lato" pitchFamily="34" charset="-120"/>
            </a:endParaRPr>
          </a:p>
          <a:p>
            <a:pPr marL="342900" indent="-342900">
              <a:lnSpc>
                <a:spcPts val="2799"/>
              </a:lnSpc>
              <a:buAutoNum type="arabicPeriod"/>
            </a:pPr>
            <a:r>
              <a:rPr lang="en-US" altLang="zh-CN" sz="2000" dirty="0">
                <a:solidFill>
                  <a:srgbClr val="272525"/>
                </a:solidFill>
                <a:ea typeface="Lato" pitchFamily="34" charset="-122"/>
                <a:cs typeface="Lato" pitchFamily="34" charset="-120"/>
              </a:rPr>
              <a:t>* * Data Segmentation * *: Divide the dataset into training and testing sets, using 70-80% of the data as the training set, and the rest for testing.</a:t>
            </a:r>
          </a:p>
          <a:p>
            <a:pPr marL="342900" indent="-342900">
              <a:lnSpc>
                <a:spcPts val="2799"/>
              </a:lnSpc>
              <a:buAutoNum type="arabicPeriod"/>
            </a:pPr>
            <a:endParaRPr lang="en-US" sz="2000" dirty="0">
              <a:solidFill>
                <a:srgbClr val="272525"/>
              </a:solidFill>
              <a:ea typeface="Lato" pitchFamily="34" charset="-122"/>
              <a:cs typeface="Lato" pitchFamily="34" charset="-120"/>
            </a:endParaRPr>
          </a:p>
          <a:p>
            <a:pPr marL="342900" indent="-342900">
              <a:lnSpc>
                <a:spcPts val="2799"/>
              </a:lnSpc>
              <a:buAutoNum type="arabicPeriod"/>
            </a:pPr>
            <a:r>
              <a:rPr lang="en-US" sz="2000" dirty="0"/>
              <a:t>* * Model Selection * *: Try 3 different machine learning models: neural networks, linear regression, and </a:t>
            </a:r>
            <a:r>
              <a:rPr lang="en-US" altLang="zh-CN" sz="2000" b="0" i="0" dirty="0">
                <a:effectLst/>
              </a:rPr>
              <a:t>Adaptive-Network-based Fuzzy Inference Systems </a:t>
            </a:r>
            <a:r>
              <a:rPr lang="en-US" sz="2000" dirty="0"/>
              <a:t>(NN, LR, and ANFIS), and evaluate their performance in predicting sliding time. </a:t>
            </a:r>
          </a:p>
          <a:p>
            <a:pPr marL="342900" indent="-342900">
              <a:lnSpc>
                <a:spcPts val="2799"/>
              </a:lnSpc>
              <a:buAutoNum type="arabicPeriod"/>
            </a:pPr>
            <a:endParaRPr lang="en-US" sz="2000" dirty="0"/>
          </a:p>
          <a:p>
            <a:pPr marL="342900" indent="-342900">
              <a:lnSpc>
                <a:spcPts val="2799"/>
              </a:lnSpc>
              <a:buAutoNum type="arabicPeriod"/>
            </a:pPr>
            <a:r>
              <a:rPr lang="en-US" sz="2000" dirty="0"/>
              <a:t>* * Model Training * *: Use training data to train the selected model and tune it to improve its performance.</a:t>
            </a:r>
          </a:p>
          <a:p>
            <a:pPr marL="342900" indent="-342900">
              <a:lnSpc>
                <a:spcPts val="2799"/>
              </a:lnSpc>
              <a:buAutoNum type="arabicPeriod"/>
            </a:pPr>
            <a:endParaRPr lang="en-US" sz="2000" dirty="0"/>
          </a:p>
          <a:p>
            <a:pPr marL="342900" indent="-342900">
              <a:lnSpc>
                <a:spcPts val="2799"/>
              </a:lnSpc>
              <a:buAutoNum type="arabicPeriod"/>
            </a:pPr>
            <a:r>
              <a:rPr lang="en-US" sz="2000" dirty="0"/>
              <a:t>* * Model Evaluation * *: By using a test set to evaluate the performance of the model to ensure that it can accurately predict aircraft taxiing time</a:t>
            </a:r>
          </a:p>
        </p:txBody>
      </p:sp>
    </p:spTree>
    <p:extLst>
      <p:ext uri="{BB962C8B-B14F-4D97-AF65-F5344CB8AC3E}">
        <p14:creationId xmlns:p14="http://schemas.microsoft.com/office/powerpoint/2010/main" val="4206229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TotalTime>
  <Words>849</Words>
  <Application>Microsoft Office PowerPoint</Application>
  <PresentationFormat>自定义</PresentationFormat>
  <Paragraphs>93</Paragraphs>
  <Slides>10</Slides>
  <Notes>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10</vt:i4>
      </vt:variant>
    </vt:vector>
  </HeadingPairs>
  <TitlesOfParts>
    <vt:vector size="16" baseType="lpstr">
      <vt:lpstr>Gelasio</vt:lpstr>
      <vt:lpstr>等线</vt:lpstr>
      <vt:lpstr>Arial</vt:lpstr>
      <vt:lpstr>Calibri</vt:lpstr>
      <vt:lpstr>Lato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Yufan Xia</cp:lastModifiedBy>
  <cp:revision>11</cp:revision>
  <dcterms:created xsi:type="dcterms:W3CDTF">2023-11-16T00:33:19Z</dcterms:created>
  <dcterms:modified xsi:type="dcterms:W3CDTF">2023-11-16T13:14:22Z</dcterms:modified>
</cp:coreProperties>
</file>